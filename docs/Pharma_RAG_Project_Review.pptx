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2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3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4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5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6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7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oblem" id="{df8b70f3-3c86-f6c8-8611-ca13737ecd6a}">
          <p14:sldIdLst>
            <p14:sldId id="256"/>
            <p14:sldId id="257"/>
            <p14:sldId id="258"/>
          </p14:sldIdLst>
        </p14:section>
        <p14:section name="Investigation" id="{390f0609-c38b-7ead-22bd-5843152f4bf2}">
          <p14:sldIdLst>
            <p14:sldId id="259"/>
            <p14:sldId id="260"/>
            <p14:sldId id="261"/>
          </p14:sldIdLst>
        </p14:section>
        <p14:section name="Findings and solution" id="{077c4679-a978-d881-5074-b901cacd1d9b}">
          <p14:sldIdLst>
            <p14:sldId id="262"/>
            <p14:sldId id="263"/>
          </p14:sldIdLst>
        </p14:section>
        <p14:section name="Validation" id="{5dc887ac-eaea-02c8-6edb-989e59ebd480}">
          <p14:sldIdLst>
            <p14:sldId id="264"/>
            <p14:sldId id="265"/>
            <p14:sldId id="266"/>
          </p14:sldIdLst>
        </p14:section>
        <p14:section name="Model choice" id="{98db9a82-66b8-e2a3-7a50-c53586ace899}">
          <p14:sldIdLst>
            <p14:sldId id="267"/>
            <p14:sldId id="268"/>
            <p14:sldId id="269"/>
          </p14:sldIdLst>
        </p14:section>
        <p14:section name="Operational readiness" id="{a257aa47-de72-0189-fc78-ec7f997a0c5b}">
          <p14:sldIdLst>
            <p14:sldId id="270"/>
            <p14:sldId id="271"/>
            <p14:sldId id="272"/>
          </p14:sldIdLst>
        </p14:section>
        <p14:section name="Readiness and next steps" id="{509f154a-dacc-c554-09f4-dd6039507968}">
          <p14:sldIdLst>
            <p14:sldId id="273"/>
            <p14:sldId id="274"/>
            <p14:sldId id="275"/>
          </p14:sldIdLst>
        </p14:section>
        <p14:section name="Appendix" id="{a52584ab-3853-db68-09eb-e094a2d0e64f}">
          <p14:sldIdLst>
            <p14:sldId id="276"/>
            <p14:sldId id="277"/>
            <p14:sldId id="278"/>
            <p14:sldId id="279"/>
            <p14:sldId id="28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2933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F2933"/>
                </a:solidFill>
                <a:latin typeface="+mn-lt"/>
              </a:rPr>
              <a:t>Tuning questions, % (before vs after)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Before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9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Facts reaching the AI</c:v>
                  </c:pt>
                  <c:pt idx="1">
                    <c:v>Multi-paper coverage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50</c:v>
                </c:pt>
                <c:pt idx="1">
                  <c:v>41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After paper-first</c:v>
                </c:pt>
              </c:strCache>
            </c:strRef>
          </c:tx>
          <c:spPr>
            <a:solidFill>
              <a:srgbClr val="0F766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9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Facts reaching the AI</c:v>
                  </c:pt>
                  <c:pt idx="1">
                    <c:v>Multi-paper coverage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88</c:v>
                </c:pt>
                <c:pt idx="1">
                  <c:v>66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F29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D9E0E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75569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2933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F2933"/>
                </a:solidFill>
                <a:latin typeface="+mn-lt"/>
              </a:rPr>
              <a:t>Facts reaching the AI, % — tuning vs held-out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Before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9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Tuning questions</c:v>
                  </c:pt>
                  <c:pt idx="1">
                    <c:v>Held-out questions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50</c:v>
                </c:pt>
                <c:pt idx="1">
                  <c:v>50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After paper-first</c:v>
                </c:pt>
              </c:strCache>
            </c:strRef>
          </c:tx>
          <c:spPr>
            <a:solidFill>
              <a:srgbClr val="0F766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9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Tuning questions</c:v>
                  </c:pt>
                  <c:pt idx="1">
                    <c:v>Held-out questions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88</c:v>
                </c:pt>
                <c:pt idx="1">
                  <c:v>81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F29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D9E0E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75569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2933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F2933"/>
                </a:solidFill>
                <a:latin typeface="+mn-lt"/>
              </a:rPr>
              <a:t>Where the 68 expected facts end up (all single-paper questions)</a:t>
            </a:r>
          </a:p>
        </c:rich>
      </c:tx>
      <c:layout/>
      <c:overlay val="0"/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Stated in the answer</c:v>
                </c:pt>
              </c:strCache>
            </c:strRef>
          </c:tx>
          <c:spPr>
            <a:solidFill>
              <a:srgbClr val="0F766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68 expected facts</c:v>
                  </c:pt>
                </c:lvl>
              </c:multiLvlStrCache>
            </c:multiLvl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50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Reached the AI, not written</c:v>
                </c:pt>
              </c:strCache>
            </c:strRef>
          </c:tx>
          <c:spPr>
            <a:solidFill>
              <a:srgbClr val="B4530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68 expected facts</c:v>
                  </c:pt>
                </c:lvl>
              </c:multiLvlStrCache>
            </c:multiLvl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Never reached the AI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68 expected facts</c:v>
                  </c:pt>
                </c:lvl>
              </c:multiLvlStrCache>
            </c:multiLvlStrRef>
          </c:cat>
          <c:val>
            <c:numRef>
              <c:f>Sheet1!$D$2:$D$2</c:f>
              <c:numCache>
                <c:formatCode>General</c:formatCode>
                <c:ptCount val="1"/>
                <c:pt idx="0">
                  <c:v>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+mn-lt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8"/>
          <c:min val="0"/>
        </c:scaling>
        <c:delete val="0"/>
        <c:axPos val="b"/>
        <c:majorGridlines>
          <c:spPr>
            <a:ln w="6350" cap="flat">
              <a:solidFill>
                <a:srgbClr val="D9E0E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75569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2933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F2933"/>
                </a:solidFill>
                <a:latin typeface="+mn-lt"/>
              </a:rPr>
              <a:t>Quality vs speed — up and left is better</a:t>
            </a:r>
          </a:p>
        </c:rich>
      </c:tx>
      <c:layout/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Facts stated (of 40)</c:v>
                </c:pt>
              </c:strCache>
            </c:strRef>
          </c:tx>
          <c:spPr>
            <a:solidFill>
              <a:srgbClr val="0F766E"/>
            </a:solidFill>
            <a:ln>
              <a:noFill/>
            </a:ln>
            <a:effectLst/>
          </c:spPr>
          <c:marker>
            <c:symbol val="circle"/>
            <c:size val="11"/>
            <c:spPr>
              <a:solidFill>
                <a:srgbClr val="0F766E"/>
              </a:solidFill>
              <a:ln w="9525" cap="flat">
                <a:solidFill>
                  <a:srgbClr val="0F766E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tx>
                <c:rich>
                  <a:bodyPr>
                    <a:spAutoFit/>
                  </a:bodyPr>
                  <a:lstStyle/>
                  <a:p>
                    <a:pPr>
                      <a:defRPr/>
                    </a:pPr>
                    <a:r>
                      <a:rPr lang="en-US" dirty="0"/>
                      <a:t>Qwen 2.5 7B (selected)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showLeaderLines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5174-3fde-c751-6055af3552ee}"/>
                </c:ext>
              </c:extLst>
            </c:dLbl>
            <c:dLbl>
              <c:idx val="1"/>
              <c:tx>
                <c:rich>
                  <a:bodyPr>
                    <a:spAutoFit/>
                  </a:bodyPr>
                  <a:lstStyle/>
                  <a:p>
                    <a:pPr>
                      <a:defRPr/>
                    </a:pPr>
                    <a:r>
                      <a:rPr lang="en-US" dirty="0"/>
                      <a:t>Qwen 2.5 7B Q8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showLeaderLines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5174-3fde-c751-6055af3552ee}"/>
                </c:ext>
              </c:extLst>
            </c:dLbl>
            <c:dLbl>
              <c:idx val="2"/>
              <c:tx>
                <c:rich>
                  <a:bodyPr>
                    <a:spAutoFit/>
                  </a:bodyPr>
                  <a:lstStyle/>
                  <a:p>
                    <a:pPr>
                      <a:defRPr/>
                    </a:pPr>
                    <a:r>
                      <a:rPr lang="en-US" dirty="0"/>
                      <a:t>Qwen 3 4B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showLeaderLines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5174-3fde-c751-6055af3552ee}"/>
                </c:ext>
              </c:extLst>
            </c:dLbl>
            <c:dLbl>
              <c:idx val="3"/>
              <c:tx>
                <c:rich>
                  <a:bodyPr>
                    <a:spAutoFit/>
                  </a:bodyPr>
                  <a:lstStyle/>
                  <a:p>
                    <a:pPr>
                      <a:defRPr/>
                    </a:pPr>
                    <a:r>
                      <a:rPr lang="en-US" dirty="0"/>
                      <a:t>Llama 3.1 8B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showLeaderLines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5174-3fde-c751-6055af3552ee}"/>
                </c:ext>
              </c:extLst>
            </c:dLbl>
            <c:dLbl>
              <c:idx val="4"/>
              <c:tx>
                <c:rich>
                  <a:bodyPr>
                    <a:spAutoFit/>
                  </a:bodyPr>
                  <a:lstStyle/>
                  <a:p>
                    <a:pPr>
                      <a:defRPr/>
                    </a:pPr>
                    <a:r>
                      <a:rPr lang="en-US" dirty="0"/>
                      <a:t>Qwen 3 8B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showLeaderLines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5174-3fde-c751-6055af3552ee}"/>
                </c:ext>
              </c:extLst>
            </c:dLbl>
            <c:dLbl>
              <c:idx val="5"/>
              <c:tx>
                <c:rich>
                  <a:bodyPr>
                    <a:spAutoFit/>
                  </a:bodyPr>
                  <a:lstStyle/>
                  <a:p>
                    <a:pPr>
                      <a:defRPr/>
                    </a:pPr>
                    <a:r>
                      <a:rPr lang="en-US" dirty="0"/>
                      <a:t/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showLeaderLines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5174-3fde-c751-6055af3552ee}"/>
                </c:ext>
              </c:extLst>
            </c:dLbl>
            <c:dLbl>
              <c:idx val="6"/>
              <c:tx>
                <c:rich>
                  <a:bodyPr>
                    <a:spAutoFit/>
                  </a:bodyPr>
                  <a:lstStyle/>
                  <a:p>
                    <a:pPr>
                      <a:defRPr/>
                    </a:pPr>
                    <a:r>
                      <a:rPr lang="en-US" dirty="0"/>
                      <a:t>Gemma 12B · Phi-4 14B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showLeaderLines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5174-3fde-c751-6055af3552ee}"/>
                </c:ext>
              </c:extLst>
            </c:dLbl>
          </c:dLbls>
          <c:xVal>
            <c:numRef>
              <c:f>Sheet1!$A$2:$A$8</c:f>
              <c:numCache>
                <c:formatCode>General</c:formatCode>
                <c:ptCount val="7"/>
                <c:pt idx="0">
                  <c:v>90</c:v>
                </c:pt>
                <c:pt idx="1">
                  <c:v>116</c:v>
                </c:pt>
                <c:pt idx="2">
                  <c:v>128</c:v>
                </c:pt>
                <c:pt idx="3">
                  <c:v>127</c:v>
                </c:pt>
                <c:pt idx="4">
                  <c:v>160</c:v>
                </c:pt>
                <c:pt idx="5">
                  <c:v>215</c:v>
                </c:pt>
                <c:pt idx="6">
                  <c:v>224</c:v>
                </c:pt>
              </c:numCache>
            </c:numRef>
          </c:xVal>
          <c:yVal>
            <c:numRef>
              <c:f>Sheet1!$B$2:$B$8</c:f>
              <c:numCache>
                <c:formatCode>General</c:formatCode>
                <c:ptCount val="7"/>
                <c:pt idx="0">
                  <c:v>32</c:v>
                </c:pt>
                <c:pt idx="1">
                  <c:v>28</c:v>
                </c:pt>
                <c:pt idx="2">
                  <c:v>34</c:v>
                </c:pt>
                <c:pt idx="3">
                  <c:v>27</c:v>
                </c:pt>
                <c:pt idx="4">
                  <c:v>32</c:v>
                </c:pt>
                <c:pt idx="5">
                  <c:v>33</c:v>
                </c:pt>
                <c:pt idx="6">
                  <c:v>33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100" u="none">
                  <a:solidFill>
                    <a:srgbClr val="1F2933"/>
                  </a:solidFill>
                  <a:latin typeface="+mn-lt"/>
                </a:defRPr>
              </a:pPr>
            </a:p>
          </c:txPr>
          <c:dLblPos val="t"/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260"/>
          <c:min val="60"/>
        </c:scaling>
        <c:delete val="0"/>
        <c:axPos val="b"/>
        <c:majorGridlines>
          <c:spPr>
            <a:ln w="6350" cap="flat">
              <a:solidFill>
                <a:srgbClr val="D9E0E3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475569"/>
                    </a:solidFill>
                    <a:latin typeface="+mn-lt"/>
                  </a:defRPr>
                </a:pPr>
                <a:r>
                  <a:rPr sz="1100" b="0" i="0" u="none" strike="noStrike">
                    <a:solidFill>
                      <a:srgbClr val="475569"/>
                    </a:solidFill>
                    <a:latin typeface="+mn-lt"/>
                  </a:rPr>
                  <a:t>median seconds per answer</a:t>
                </a: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valAx>
      <c:valAx>
        <c:axId val="2094734552"/>
        <c:scaling>
          <c:orientation val="minMax"/>
          <c:max val="36"/>
          <c:min val="24"/>
        </c:scaling>
        <c:delete val="0"/>
        <c:axPos val="l"/>
        <c:majorGridlines>
          <c:spPr>
            <a:ln w="6350" cap="flat">
              <a:solidFill>
                <a:srgbClr val="D9E0E3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475569"/>
                    </a:solidFill>
                    <a:latin typeface="+mn-lt"/>
                  </a:defRPr>
                </a:pPr>
                <a:r>
                  <a:rPr sz="1100" b="0" i="0" u="none" strike="noStrike">
                    <a:solidFill>
                      <a:srgbClr val="475569"/>
                    </a:solidFill>
                    <a:latin typeface="+mn-lt"/>
                  </a:rPr>
                  <a:t>facts stated (of 40)</a:t>
                </a:r>
              </a:p>
            </c:rich>
          </c:tx>
          <c:layout/>
          <c:overlay val="0"/>
        </c:title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75569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midCat"/>
        <c:majorUnit val="2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2933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F2933"/>
                </a:solidFill>
                <a:latin typeface="+mn-lt"/>
              </a:rPr>
              <a:t>Seconds per typical answer</a:t>
            </a:r>
          </a:p>
        </c:rich>
      </c:tx>
      <c:layout/>
      <c:overlay val="0"/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AI reads question + 8 passages</c:v>
                </c:pt>
              </c:strCache>
            </c:strRef>
          </c:tx>
          <c:spPr>
            <a:solidFill>
              <a:srgbClr val="475569"/>
            </a:solidFill>
            <a:effectLst/>
          </c:spPr>
          <c:invertIfNegative val="0"/>
          <c:dLbls>
            <c:numFmt formatCode="0&quot; s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One answer</c:v>
                  </c:pt>
                </c:lvl>
              </c:multiLvlStrCache>
            </c:multiLvl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43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AI writes the answer</c:v>
                </c:pt>
              </c:strCache>
            </c:strRef>
          </c:tx>
          <c:spPr>
            <a:solidFill>
              <a:srgbClr val="0F766E"/>
            </a:solidFill>
            <a:effectLst/>
          </c:spPr>
          <c:invertIfNegative val="0"/>
          <c:dLbls>
            <c:numFmt formatCode="0&quot; s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One answer</c:v>
                  </c:pt>
                </c:lvl>
              </c:multiLvlStrCache>
            </c:multiLvl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52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Search + selection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dLbls>
            <c:numFmt formatCode="0&quot; s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One answer</c:v>
                  </c:pt>
                </c:lvl>
              </c:multiLvlStrCache>
            </c:multiLvlStrRef>
          </c:cat>
          <c:val>
            <c:numRef>
              <c:f>Sheet1!$D$2:$D$2</c:f>
              <c:numCache>
                <c:formatCode>General</c:formatCode>
                <c:ptCount val="1"/>
                <c:pt idx="0">
                  <c:v>5</c:v>
                </c:pt>
              </c:numCache>
            </c:numRef>
          </c:val>
        </c:ser>
        <c:dLbls>
          <c:numFmt formatCode="0&quot; s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+mn-lt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b"/>
        <c:majorGridlines>
          <c:spPr>
            <a:ln w="6350" cap="flat">
              <a:solidFill>
                <a:srgbClr val="D9E0E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75569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2933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F2933"/>
                </a:solidFill>
                <a:latin typeface="+mn-lt"/>
              </a:rPr>
              <a:t>Measured: +0.19 GB per answer, still rising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AI process memory (no fix)</c:v>
                </c:pt>
              </c:strCache>
            </c:strRef>
          </c:tx>
          <c:spPr>
            <a:solidFill>
              <a:srgbClr val="B91C1C"/>
            </a:solidFill>
            <a:ln w="31750" cap="flat">
              <a:solidFill>
                <a:srgbClr val="B91C1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B91C1C"/>
              </a:solidFill>
              <a:ln w="9525" cap="flat">
                <a:solidFill>
                  <a:srgbClr val="B91C1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1</c:v>
                  </c:pt>
                  <c:pt idx="1">
                    <c:v>5</c:v>
                  </c:pt>
                  <c:pt idx="2">
                    <c:v>10</c:v>
                  </c:pt>
                  <c:pt idx="3">
                    <c:v>15</c:v>
                  </c:pt>
                  <c:pt idx="4">
                    <c:v>20</c:v>
                  </c:pt>
                  <c:pt idx="5">
                    <c:v>25</c:v>
                  </c:pt>
                  <c:pt idx="6">
                    <c:v>30</c:v>
                  </c:pt>
                  <c:pt idx="7">
                    <c:v>35</c:v>
                  </c:pt>
                  <c:pt idx="8">
                    <c:v>40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5.2</c:v>
                </c:pt>
                <c:pt idx="1">
                  <c:v>6</c:v>
                </c:pt>
                <c:pt idx="2">
                  <c:v>7</c:v>
                </c:pt>
                <c:pt idx="3">
                  <c:v>8</c:v>
                </c:pt>
                <c:pt idx="4">
                  <c:v>9</c:v>
                </c:pt>
                <c:pt idx="5">
                  <c:v>10</c:v>
                </c:pt>
                <c:pt idx="6">
                  <c:v>11</c:v>
                </c:pt>
                <c:pt idx="7">
                  <c:v>11.9</c:v>
                </c:pt>
                <c:pt idx="8">
                  <c:v>12.9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475569"/>
                    </a:solidFill>
                    <a:latin typeface="+mn-lt"/>
                  </a:defRPr>
                </a:pPr>
                <a:r>
                  <a:rPr sz="1100" b="0" i="0" u="none" strike="noStrike">
                    <a:solidFill>
                      <a:srgbClr val="475569"/>
                    </a:solidFill>
                    <a:latin typeface="+mn-lt"/>
                  </a:rPr>
                  <a:t>answers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6"/>
          <c:min val="4"/>
        </c:scaling>
        <c:delete val="0"/>
        <c:axPos val="l"/>
        <c:majorGridlines>
          <c:spPr>
            <a:ln w="6350" cap="flat">
              <a:solidFill>
                <a:srgbClr val="D9E0E3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475569"/>
                    </a:solidFill>
                    <a:latin typeface="+mn-lt"/>
                  </a:defRPr>
                </a:pPr>
                <a:r>
                  <a:rPr sz="1100" b="0" i="0" u="none" strike="noStrike">
                    <a:solidFill>
                      <a:srgbClr val="475569"/>
                    </a:solidFill>
                    <a:latin typeface="+mn-lt"/>
                  </a:rPr>
                  <a:t>GB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75569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2933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F2933"/>
                </a:solidFill>
                <a:latin typeface="+mn-lt"/>
              </a:rPr>
              <a:t>Measured AI process memory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Before fix</c:v>
                </c:pt>
              </c:strCache>
            </c:strRef>
          </c:tx>
          <c:spPr>
            <a:solidFill>
              <a:srgbClr val="B91C1C"/>
            </a:solidFill>
            <a:ln w="31750" cap="flat">
              <a:solidFill>
                <a:srgbClr val="B91C1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B91C1C"/>
              </a:solidFill>
              <a:ln w="9525" cap="flat">
                <a:solidFill>
                  <a:srgbClr val="B91C1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1</c:v>
                  </c:pt>
                  <c:pt idx="1">
                    <c:v>5</c:v>
                  </c:pt>
                  <c:pt idx="2">
                    <c:v>10</c:v>
                  </c:pt>
                  <c:pt idx="3">
                    <c:v>15</c:v>
                  </c:pt>
                  <c:pt idx="4">
                    <c:v>20</c:v>
                  </c:pt>
                  <c:pt idx="5">
                    <c:v>25</c:v>
                  </c:pt>
                  <c:pt idx="6">
                    <c:v>30</c:v>
                  </c:pt>
                  <c:pt idx="7">
                    <c:v>35</c:v>
                  </c:pt>
                  <c:pt idx="8">
                    <c:v>40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5.2</c:v>
                </c:pt>
                <c:pt idx="1">
                  <c:v>6</c:v>
                </c:pt>
                <c:pt idx="2">
                  <c:v>7</c:v>
                </c:pt>
                <c:pt idx="3">
                  <c:v>8</c:v>
                </c:pt>
                <c:pt idx="4">
                  <c:v>9</c:v>
                </c:pt>
                <c:pt idx="5">
                  <c:v>10</c:v>
                </c:pt>
                <c:pt idx="6">
                  <c:v>11</c:v>
                </c:pt>
                <c:pt idx="7">
                  <c:v>11.9</c:v>
                </c:pt>
                <c:pt idx="8">
                  <c:v>12.9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After fix (reload between requests)</c:v>
                </c:pt>
              </c:strCache>
            </c:strRef>
          </c:tx>
          <c:spPr>
            <a:solidFill>
              <a:srgbClr val="0F766E"/>
            </a:solidFill>
            <a:ln w="31750" cap="flat">
              <a:solidFill>
                <a:srgbClr val="0F766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0F766E"/>
              </a:solidFill>
              <a:ln w="9525" cap="flat">
                <a:solidFill>
                  <a:srgbClr val="0F766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1</c:v>
                  </c:pt>
                  <c:pt idx="1">
                    <c:v>5</c:v>
                  </c:pt>
                  <c:pt idx="2">
                    <c:v>10</c:v>
                  </c:pt>
                  <c:pt idx="3">
                    <c:v>15</c:v>
                  </c:pt>
                  <c:pt idx="4">
                    <c:v>20</c:v>
                  </c:pt>
                  <c:pt idx="5">
                    <c:v>25</c:v>
                  </c:pt>
                  <c:pt idx="6">
                    <c:v>30</c:v>
                  </c:pt>
                  <c:pt idx="7">
                    <c:v>35</c:v>
                  </c:pt>
                  <c:pt idx="8">
                    <c:v>40</c:v>
                  </c:pt>
                </c:lvl>
              </c:multiLvlStrCache>
            </c:multiLvl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5.2</c:v>
                </c:pt>
                <c:pt idx="1">
                  <c:v>6</c:v>
                </c:pt>
                <c:pt idx="2">
                  <c:v>7</c:v>
                </c:pt>
                <c:pt idx="3">
                  <c:v>8</c:v>
                </c:pt>
                <c:pt idx="4">
                  <c:v>5.4</c:v>
                </c:pt>
                <c:pt idx="5">
                  <c:v>6.4</c:v>
                </c:pt>
                <c:pt idx="6">
                  <c:v>7.4</c:v>
                </c:pt>
                <c:pt idx="7">
                  <c:v>8.4</c:v>
                </c:pt>
                <c:pt idx="8">
                  <c:v>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475569"/>
                    </a:solidFill>
                    <a:latin typeface="+mn-lt"/>
                  </a:defRPr>
                </a:pPr>
                <a:r>
                  <a:rPr sz="1100" b="0" i="0" u="none" strike="noStrike">
                    <a:solidFill>
                      <a:srgbClr val="475569"/>
                    </a:solidFill>
                    <a:latin typeface="+mn-lt"/>
                  </a:rPr>
                  <a:t>answers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6"/>
          <c:min val="4"/>
        </c:scaling>
        <c:delete val="0"/>
        <c:axPos val="l"/>
        <c:majorGridlines>
          <c:spPr>
            <a:ln w="6350" cap="flat">
              <a:solidFill>
                <a:srgbClr val="D9E0E3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475569"/>
                    </a:solidFill>
                    <a:latin typeface="+mn-lt"/>
                  </a:defRPr>
                </a:pPr>
                <a:r>
                  <a:rPr sz="1100" b="0" i="0" u="none" strike="noStrike">
                    <a:solidFill>
                      <a:srgbClr val="475569"/>
                    </a:solidFill>
                    <a:latin typeface="+mn-lt"/>
                  </a:rPr>
                  <a:t>GB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75569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line: a research assistant that answers from our own papers, cites its sources, refuses when it does not know, and never sends data outside. Bridge: here is the problem it solves.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 first, then what success means. Success criteria were fixed before any tuning, in this priority order. Business baseline (users, hours per question) still to be filled. Bridge: here is where we ended 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Bottom line up front. Four numbers the rest of the talk explains, and the honest status: pilot-ready after two admin steps, not production-ready. Bridge: to follow the story, here is how the system answers a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Only the vocabulary the rest of the talk needs: papers, passages, the AI model, validation. Everything runs on one VM. Bridge: before changing anything, I needed a way to measure 'correct'.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question has the facts a correct answer must contain, so 'correct' is countable. 22 questions were written later and kept aside as a final exam. The same harness runs the real production code. Bridge: the first measurement was the surprise.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key insight: the AI can only state facts it is given. In the original system only 26 of 52 expected facts were even in the evidence handed to the model, and 5 questions had none. So retrieval, not the AI, was the main challenge. Bridge: why was the evidence missed?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Experiments separated finding the paper from finding the passage. The paper was found 94% of the time; the passage with the answer only 35%. Three causes explain it. Several plausible suspects were tested and ruled out, which kept the fix focused. Bridge: that pointed to a different design.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Since papers were found reliably, search papers first, then choose passages only inside the best papers. The budget adapts to the question; if nothing is relevant the system refuses before calling the AI. Bridge: did it work?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Measured on the tuning questions. Multi-paper coverage also improved. Questions with no evidence at all dropped from 5 to 0. Bridge: but these are the questions I tuned on — is the gain real?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22 held-out questions were written after the design was frozen and never used to tune it. The gain holds there, so it is not overfitting. Bridge: with the evidence now present, how good are the answers?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Of the facts the AI received, it stated 50 of 59. On 12 out-of-scope questions it never invented a claim; 9 were refused by retrieval in about 4 seconds. The limit: some secondary statistics are left out. Bridge: so is the AI model now the weak link?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Of 68 expected facts: 50 are stated, 9 never reach the AI (hard retrieval cases), and 9 reach the AI but are not written. That raises the question: would a better AI model recover the 9? Bridge: so I tested that directly.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model received exactly the same stored evidence, so differences come from the model alone. Larger models (12–14B) gained about one fact — within run-to-run noise — for 2.3× the time and twice the RAM. Higher precision (Q8) gave no gain. Bridge: why do bigger models cost so much time?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AI reads about 3,300 tokens (the 8 passages are 81% of that) at 77 tokens/s, then writes about 370 tokens at 7.3 tokens/s. Search is 5 s. CPU inference is the limit, so the lever is hardware (GPU), not tuning. Using all 8 CPU threads gave 18–25%. Bridge: running these tests for hours exposed a real risk.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Found during the model study: the AI process memory was sampled during every answer and rose about 0.19 GB each time. Ollama's log confirmed it keeps a RAM copy of each prompt's working state, up to 8 GB per model, with no setting to turn it off. On this 16 GB VM without swap that would crash the service after about 40 answers. Bridge: here is the fix and the proof.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only way to free the cache is to unload and reload the model (about 6 s). The service now does this between requests after 20 answers or when free RAM drops below 4 GB, and at start-up. Verified on the live service: 75 answers, memory at most 7.8–8.6 GB, 0 errors, same evidence and same answer quality. Bridge: memory is one risk; privacy is the other.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Network traffic was recorded every second during a live question: the application only talked inside the VM. Separately, Ollama opens a background connection to ollama.com at start-up and would forward '-cloud' model names there. One setting plus a firewall rule closes it (verified on an isolated test instance). Bridge: so where does that leave us?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Scorecard by area. Everything a small pilot needs is in place except two admin steps that take minutes. Production use needs security controls and internal document formats. Bridge: and if it needs to grow?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Only the current VM row is measured; laptop and server rows are estimates to confirm on real hardware. Storage is cheap; the AI's speed and the number of simultaneous users are what require bigger hardware. At larger corpus sizes, retrieval quality must be re-tested. Details in appendix A3 and A4.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plan and the three decisions. Effort estimates still to be filled.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Identical stored evidence, 8 threads, 8K context, temperature 0. Facts = adjudicated facts stated on 14 single-paper screening questions (40 facts). Full 40-answer set: Qwen 2.5 7B 85%, Qwen 3 8B 81%.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on the same stored evidence. Conclusion: the model omits statistics it treats as peripheral, plus answer templates that sometimes do not fit the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Assumes office, browser and security software use 6–8 GB (est.). The assistant needs the AI model plus about 2 GB for the app. All laptop figures are estimates.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Measured: 23.7 MB of indexed text occupies a 250 MB index; 0.53 MB per paper-sized document. System itself 8.9 GB. 20% of disk kept free; RAM limits capacity before disk on laptops (≈ 64 KB per document).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Severity = impact if it happens; probability on a 16 GB host running continuously. Status as of 2026-10-19.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1069848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38328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Pharma RAG · Project review · measured on Azure D8ls_v6 (8 vCPU, 16 GB, CPU only) unless marked est.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10698480" cy="1371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Pharma Research Intelligence Assistant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38328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Private, cited answers from research papers on local AI — project review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2026-10-06 → 2026-10-16 · 35 commits · measured on Azure D8ls_v6 (8 vCPU, 16 GB, CPU only)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Researchers need cited answers that stay private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539496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Today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Why it is a problem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Researchers read many papers per question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Slow; synthesis and checking are manual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Public AI chat tools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Documents leave the company; answers invent facts and cannot be traced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</a:rPr>
                        <a:t>[TO FILL] users · hours per question · questions per week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Baseline for the value case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6217920" y="123444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WHAT SUCCESS MEANS (priority order)</a:t>
            </a:r>
            <a:endParaRPr lang="en-US" sz="1300" dirty="0"/>
          </a:p>
        </p:txBody>
      </p:sp>
      <p:sp>
        <p:nvSpPr>
          <p:cNvPr id="6" name="crit dot 1"/>
          <p:cNvSpPr/>
          <p:nvPr/>
        </p:nvSpPr>
        <p:spPr>
          <a:xfrm>
            <a:off x="6217920" y="169164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crit num 1"/>
          <p:cNvSpPr txBox="1"/>
          <p:nvPr/>
        </p:nvSpPr>
        <p:spPr>
          <a:xfrm>
            <a:off x="621792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crit text 1"/>
          <p:cNvSpPr txBox="1"/>
          <p:nvPr/>
        </p:nvSpPr>
        <p:spPr>
          <a:xfrm>
            <a:off x="6949440" y="169164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Correct answers — no invented claims</a:t>
            </a:r>
            <a:endParaRPr lang="en-US" sz="1600" dirty="0"/>
          </a:p>
        </p:txBody>
      </p:sp>
      <p:sp>
        <p:nvSpPr>
          <p:cNvPr id="9" name="crit dot 2"/>
          <p:cNvSpPr/>
          <p:nvPr/>
        </p:nvSpPr>
        <p:spPr>
          <a:xfrm>
            <a:off x="6217920" y="2468880"/>
            <a:ext cx="548640" cy="548640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crit num 2"/>
          <p:cNvSpPr txBox="1"/>
          <p:nvPr/>
        </p:nvSpPr>
        <p:spPr>
          <a:xfrm>
            <a:off x="6217920" y="2468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crit text 2"/>
          <p:cNvSpPr txBox="1"/>
          <p:nvPr/>
        </p:nvSpPr>
        <p:spPr>
          <a:xfrm>
            <a:off x="6949440" y="246888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Every claim cited to its source</a:t>
            </a:r>
            <a:endParaRPr lang="en-US" sz="1600" dirty="0"/>
          </a:p>
        </p:txBody>
      </p:sp>
      <p:sp>
        <p:nvSpPr>
          <p:cNvPr id="12" name="crit dot 3"/>
          <p:cNvSpPr/>
          <p:nvPr/>
        </p:nvSpPr>
        <p:spPr>
          <a:xfrm>
            <a:off x="6217920" y="3246120"/>
            <a:ext cx="548640" cy="548640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crit num 3"/>
          <p:cNvSpPr txBox="1"/>
          <p:nvPr/>
        </p:nvSpPr>
        <p:spPr>
          <a:xfrm>
            <a:off x="6217920" y="3246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crit text 3"/>
          <p:cNvSpPr txBox="1"/>
          <p:nvPr/>
        </p:nvSpPr>
        <p:spPr>
          <a:xfrm>
            <a:off x="6949440" y="324612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Right evidence reaches the AI</a:t>
            </a:r>
            <a:endParaRPr lang="en-US" sz="1600" dirty="0"/>
          </a:p>
        </p:txBody>
      </p:sp>
      <p:sp>
        <p:nvSpPr>
          <p:cNvPr id="15" name="crit dot 4"/>
          <p:cNvSpPr/>
          <p:nvPr/>
        </p:nvSpPr>
        <p:spPr>
          <a:xfrm>
            <a:off x="6217920" y="4023360"/>
            <a:ext cx="548640" cy="548640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crit num 4"/>
          <p:cNvSpPr txBox="1"/>
          <p:nvPr/>
        </p:nvSpPr>
        <p:spPr>
          <a:xfrm>
            <a:off x="6217920" y="4023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4</a:t>
            </a:r>
            <a:endParaRPr lang="en-US" sz="1600" dirty="0"/>
          </a:p>
        </p:txBody>
      </p:sp>
      <p:sp>
        <p:nvSpPr>
          <p:cNvPr id="17" name="crit text 4"/>
          <p:cNvSpPr txBox="1"/>
          <p:nvPr/>
        </p:nvSpPr>
        <p:spPr>
          <a:xfrm>
            <a:off x="6949440" y="402336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Answer in 90–150 s</a:t>
            </a:r>
            <a:endParaRPr lang="en-US" sz="1600" dirty="0"/>
          </a:p>
        </p:txBody>
      </p:sp>
      <p:sp>
        <p:nvSpPr>
          <p:cNvPr id="18" name="Text 14"/>
          <p:cNvSpPr txBox="1"/>
          <p:nvPr/>
        </p:nvSpPr>
        <p:spPr>
          <a:xfrm>
            <a:off x="548640" y="51206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Constraints: local inference only · CPU only · 8 vCPU / 16 GB VM · 568 PubMed Central papers on 8 drugs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The answer: evidence delivery 50 → 88%, pilot-ready</a:t>
            </a:r>
            <a:endParaRPr lang="en-US" sz="3000" dirty="0"/>
          </a:p>
        </p:txBody>
      </p:sp>
      <p:sp>
        <p:nvSpPr>
          <p:cNvPr id="4" name="evidence card"/>
          <p:cNvSpPr/>
          <p:nvPr/>
        </p:nvSpPr>
        <p:spPr>
          <a:xfrm>
            <a:off x="548640" y="1280160"/>
            <a:ext cx="262890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evidence value"/>
          <p:cNvSpPr txBox="1"/>
          <p:nvPr/>
        </p:nvSpPr>
        <p:spPr>
          <a:xfrm>
            <a:off x="731520" y="1389888"/>
            <a:ext cx="2263140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 → 88%</a:t>
            </a:r>
            <a:endParaRPr lang="en-US" sz="3200" dirty="0"/>
          </a:p>
        </p:txBody>
      </p:sp>
      <p:sp>
        <p:nvSpPr>
          <p:cNvPr id="6" name="evidence label"/>
          <p:cNvSpPr txBox="1"/>
          <p:nvPr/>
        </p:nvSpPr>
        <p:spPr>
          <a:xfrm>
            <a:off x="731520" y="2169414"/>
            <a:ext cx="22631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expected facts reaching the AI (81% on new questions)</a:t>
            </a:r>
            <a:endParaRPr lang="en-US" sz="1300" dirty="0"/>
          </a:p>
        </p:txBody>
      </p:sp>
      <p:sp>
        <p:nvSpPr>
          <p:cNvPr id="7" name="retention card"/>
          <p:cNvSpPr/>
          <p:nvPr/>
        </p:nvSpPr>
        <p:spPr>
          <a:xfrm>
            <a:off x="3360420" y="1280160"/>
            <a:ext cx="262890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retention value"/>
          <p:cNvSpPr txBox="1"/>
          <p:nvPr/>
        </p:nvSpPr>
        <p:spPr>
          <a:xfrm>
            <a:off x="3543300" y="1389888"/>
            <a:ext cx="2263140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85%</a:t>
            </a:r>
            <a:endParaRPr lang="en-US" sz="3200" dirty="0"/>
          </a:p>
        </p:txBody>
      </p:sp>
      <p:sp>
        <p:nvSpPr>
          <p:cNvPr id="9" name="retention label"/>
          <p:cNvSpPr txBox="1"/>
          <p:nvPr/>
        </p:nvSpPr>
        <p:spPr>
          <a:xfrm>
            <a:off x="3543300" y="2169414"/>
            <a:ext cx="22631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of that evidence stated in the answer</a:t>
            </a:r>
            <a:endParaRPr lang="en-US" sz="1300" dirty="0"/>
          </a:p>
        </p:txBody>
      </p:sp>
      <p:sp>
        <p:nvSpPr>
          <p:cNvPr id="10" name="abstention card"/>
          <p:cNvSpPr/>
          <p:nvPr/>
        </p:nvSpPr>
        <p:spPr>
          <a:xfrm>
            <a:off x="6172200" y="1280160"/>
            <a:ext cx="262890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abstention value"/>
          <p:cNvSpPr txBox="1"/>
          <p:nvPr/>
        </p:nvSpPr>
        <p:spPr>
          <a:xfrm>
            <a:off x="6355080" y="1389888"/>
            <a:ext cx="2263140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/ 12</a:t>
            </a:r>
            <a:endParaRPr lang="en-US" sz="3200" dirty="0"/>
          </a:p>
        </p:txBody>
      </p:sp>
      <p:sp>
        <p:nvSpPr>
          <p:cNvPr id="12" name="abstention label"/>
          <p:cNvSpPr txBox="1"/>
          <p:nvPr/>
        </p:nvSpPr>
        <p:spPr>
          <a:xfrm>
            <a:off x="6355080" y="2169414"/>
            <a:ext cx="22631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out-of-scope questions with invented claims</a:t>
            </a:r>
            <a:endParaRPr lang="en-US" sz="1300" dirty="0"/>
          </a:p>
        </p:txBody>
      </p:sp>
      <p:sp>
        <p:nvSpPr>
          <p:cNvPr id="13" name="latency card"/>
          <p:cNvSpPr/>
          <p:nvPr/>
        </p:nvSpPr>
        <p:spPr>
          <a:xfrm>
            <a:off x="8983980" y="1280160"/>
            <a:ext cx="262890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latency value"/>
          <p:cNvSpPr txBox="1"/>
          <p:nvPr/>
        </p:nvSpPr>
        <p:spPr>
          <a:xfrm>
            <a:off x="9166860" y="1389888"/>
            <a:ext cx="2263140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~100 s</a:t>
            </a:r>
            <a:endParaRPr lang="en-US" sz="3200" dirty="0"/>
          </a:p>
        </p:txBody>
      </p:sp>
      <p:sp>
        <p:nvSpPr>
          <p:cNvPr id="15" name="latency label"/>
          <p:cNvSpPr txBox="1"/>
          <p:nvPr/>
        </p:nvSpPr>
        <p:spPr>
          <a:xfrm>
            <a:off x="9166860" y="2169414"/>
            <a:ext cx="22631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per answer on a CPU-only VM</a:t>
            </a:r>
            <a:endParaRPr lang="en-US" sz="1300" dirty="0"/>
          </a:p>
        </p:txBody>
      </p:sp>
      <p:sp>
        <p:nvSpPr>
          <p:cNvPr id="16" name="pilot"/>
          <p:cNvSpPr/>
          <p:nvPr/>
        </p:nvSpPr>
        <p:spPr>
          <a:xfrm>
            <a:off x="548640" y="3108960"/>
            <a:ext cx="5440680" cy="914400"/>
          </a:xfrm>
          <a:prstGeom prst="roundRect">
            <a:avLst>
              <a:gd name="adj" fmla="val 6000"/>
            </a:avLst>
          </a:prstGeom>
          <a:solidFill>
            <a:srgbClr val="DDF1EE"/>
          </a:solidFill>
          <a:ln w="12700">
            <a:solidFill>
              <a:srgbClr val="DDF1EE"/>
            </a:solidFill>
            <a:prstDash val="solid"/>
          </a:ln>
        </p:spPr>
      </p:sp>
      <p:sp>
        <p:nvSpPr>
          <p:cNvPr id="17" name="pilot text"/>
          <p:cNvSpPr txBox="1"/>
          <p:nvPr/>
        </p:nvSpPr>
        <p:spPr>
          <a:xfrm>
            <a:off x="548640" y="3108960"/>
            <a:ext cx="5440680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Pilot-ready after two admin steps</a:t>
            </a:r>
            <a:endParaRPr lang="en-US" sz="1800" dirty="0"/>
          </a:p>
        </p:txBody>
      </p:sp>
      <p:sp>
        <p:nvSpPr>
          <p:cNvPr id="18" name="prod"/>
          <p:cNvSpPr/>
          <p:nvPr/>
        </p:nvSpPr>
        <p:spPr>
          <a:xfrm>
            <a:off x="6172200" y="3108960"/>
            <a:ext cx="5440680" cy="914400"/>
          </a:xfrm>
          <a:prstGeom prst="roundRect">
            <a:avLst>
              <a:gd name="adj" fmla="val 6000"/>
            </a:avLst>
          </a:prstGeom>
          <a:solidFill>
            <a:srgbClr val="FBE4E4"/>
          </a:solidFill>
          <a:ln w="12700">
            <a:solidFill>
              <a:srgbClr val="FBE4E4"/>
            </a:solidFill>
            <a:prstDash val="solid"/>
          </a:ln>
        </p:spPr>
      </p:sp>
      <p:sp>
        <p:nvSpPr>
          <p:cNvPr id="19" name="prod text"/>
          <p:cNvSpPr txBox="1"/>
          <p:nvPr/>
        </p:nvSpPr>
        <p:spPr>
          <a:xfrm>
            <a:off x="6172200" y="3108960"/>
            <a:ext cx="5440680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Not yet production-ready: login, access control, document formats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4389120"/>
            <a:ext cx="11064240" cy="548640"/>
          </a:xfrm>
          <a:prstGeom prst="rect">
            <a:avLst/>
          </a:prstGeom>
          <a:noFill/>
          <a:ln/>
        </p:spPr>
        <p:txBody>
          <a:bodyPr wrap="square" lIns="635" tIns="1270" rIns="1270" bIns="635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Story: problem → investigation → root cause → solution → proof → model choice → operational risks → readiness → next steps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How the system answers a question</a:t>
            </a:r>
            <a:endParaRPr lang="en-US" sz="3000" dirty="0"/>
          </a:p>
        </p:txBody>
      </p:sp>
      <p:sp>
        <p:nvSpPr>
          <p:cNvPr id="4" name="step 0"/>
          <p:cNvSpPr/>
          <p:nvPr/>
        </p:nvSpPr>
        <p:spPr>
          <a:xfrm>
            <a:off x="548640" y="1463040"/>
            <a:ext cx="246888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tep text 0"/>
          <p:cNvSpPr txBox="1"/>
          <p:nvPr/>
        </p:nvSpPr>
        <p:spPr>
          <a:xfrm>
            <a:off x="731520" y="160020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1  Find papers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search 568 papers by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title, abstract and text</a:t>
            </a:r>
            <a:endParaRPr lang="en-US" sz="1800" dirty="0"/>
          </a:p>
        </p:txBody>
      </p:sp>
      <p:sp>
        <p:nvSpPr>
          <p:cNvPr id="6" name="step arrow 0"/>
          <p:cNvSpPr/>
          <p:nvPr/>
        </p:nvSpPr>
        <p:spPr>
          <a:xfrm>
            <a:off x="3063240" y="2331720"/>
            <a:ext cx="301752" cy="914"/>
          </a:xfrm>
          <a:prstGeom prst="line">
            <a:avLst/>
          </a:prstGeom>
          <a:noFill/>
          <a:ln w="15875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7" name="step 1"/>
          <p:cNvSpPr/>
          <p:nvPr/>
        </p:nvSpPr>
        <p:spPr>
          <a:xfrm>
            <a:off x="3410712" y="1463040"/>
            <a:ext cx="246888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tep text 1"/>
          <p:cNvSpPr txBox="1"/>
          <p:nvPr/>
        </p:nvSpPr>
        <p:spPr>
          <a:xfrm>
            <a:off x="3593592" y="160020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2  Pick passages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8 best passages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from those papers</a:t>
            </a:r>
            <a:endParaRPr lang="en-US" sz="1800" dirty="0"/>
          </a:p>
        </p:txBody>
      </p:sp>
      <p:sp>
        <p:nvSpPr>
          <p:cNvPr id="9" name="step arrow 1"/>
          <p:cNvSpPr/>
          <p:nvPr/>
        </p:nvSpPr>
        <p:spPr>
          <a:xfrm>
            <a:off x="5925312" y="2331720"/>
            <a:ext cx="301752" cy="914"/>
          </a:xfrm>
          <a:prstGeom prst="line">
            <a:avLst/>
          </a:prstGeom>
          <a:noFill/>
          <a:ln w="15875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10" name="step 2"/>
          <p:cNvSpPr/>
          <p:nvPr/>
        </p:nvSpPr>
        <p:spPr>
          <a:xfrm>
            <a:off x="6272784" y="1463040"/>
            <a:ext cx="2468880" cy="1737360"/>
          </a:xfrm>
          <a:prstGeom prst="roundRect">
            <a:avLst>
              <a:gd name="adj" fmla="val 421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1" name="step text 2"/>
          <p:cNvSpPr txBox="1"/>
          <p:nvPr/>
        </p:nvSpPr>
        <p:spPr>
          <a:xfrm>
            <a:off x="6455664" y="160020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  Write answer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local AI model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Qwen 2.5 7B</a:t>
            </a:r>
            <a:endParaRPr lang="en-US" sz="1800" dirty="0"/>
          </a:p>
        </p:txBody>
      </p:sp>
      <p:sp>
        <p:nvSpPr>
          <p:cNvPr id="12" name="step arrow 2"/>
          <p:cNvSpPr/>
          <p:nvPr/>
        </p:nvSpPr>
        <p:spPr>
          <a:xfrm>
            <a:off x="8787384" y="2331720"/>
            <a:ext cx="301752" cy="914"/>
          </a:xfrm>
          <a:prstGeom prst="line">
            <a:avLst/>
          </a:prstGeom>
          <a:noFill/>
          <a:ln w="15875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13" name="step 3"/>
          <p:cNvSpPr/>
          <p:nvPr/>
        </p:nvSpPr>
        <p:spPr>
          <a:xfrm>
            <a:off x="9134856" y="1463040"/>
            <a:ext cx="246888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tep text 3"/>
          <p:cNvSpPr txBox="1"/>
          <p:nvPr/>
        </p:nvSpPr>
        <p:spPr>
          <a:xfrm>
            <a:off x="9317736" y="160020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4  Validate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every claim cited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to a passage</a:t>
            </a:r>
            <a:endParaRPr lang="en-US" sz="1800" dirty="0"/>
          </a:p>
        </p:txBody>
      </p:sp>
      <p:sp>
        <p:nvSpPr>
          <p:cNvPr id="15" name="refuse"/>
          <p:cNvSpPr/>
          <p:nvPr/>
        </p:nvSpPr>
        <p:spPr>
          <a:xfrm>
            <a:off x="548640" y="3611880"/>
            <a:ext cx="5394960" cy="777240"/>
          </a:xfrm>
          <a:prstGeom prst="roundRect">
            <a:avLst>
              <a:gd name="adj" fmla="val 7059"/>
            </a:avLst>
          </a:prstGeom>
          <a:solidFill>
            <a:srgbClr val="FBEFD9"/>
          </a:solidFill>
          <a:ln w="12700">
            <a:solidFill>
              <a:srgbClr val="FBEFD9"/>
            </a:solidFill>
            <a:prstDash val="solid"/>
          </a:ln>
        </p:spPr>
      </p:sp>
      <p:sp>
        <p:nvSpPr>
          <p:cNvPr id="16" name="refuse text"/>
          <p:cNvSpPr txBox="1"/>
          <p:nvPr/>
        </p:nvSpPr>
        <p:spPr>
          <a:xfrm>
            <a:off x="548640" y="3611880"/>
            <a:ext cx="5394960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Nothing relevant found → refuse in ≈ 4 s, without calling the AI</a:t>
            </a:r>
            <a:endParaRPr lang="en-US" sz="1500" dirty="0"/>
          </a:p>
        </p:txBody>
      </p:sp>
      <p:sp>
        <p:nvSpPr>
          <p:cNvPr id="17" name="out"/>
          <p:cNvSpPr/>
          <p:nvPr/>
        </p:nvSpPr>
        <p:spPr>
          <a:xfrm>
            <a:off x="6217920" y="3611880"/>
            <a:ext cx="5394960" cy="777240"/>
          </a:xfrm>
          <a:prstGeom prst="roundRect">
            <a:avLst>
              <a:gd name="adj" fmla="val 7059"/>
            </a:avLst>
          </a:prstGeom>
          <a:solidFill>
            <a:srgbClr val="DDF1EE"/>
          </a:solidFill>
          <a:ln w="12700">
            <a:solidFill>
              <a:srgbClr val="DDF1EE"/>
            </a:solidFill>
            <a:prstDash val="solid"/>
          </a:ln>
        </p:spPr>
      </p:sp>
      <p:sp>
        <p:nvSpPr>
          <p:cNvPr id="18" name="out text"/>
          <p:cNvSpPr txBox="1"/>
          <p:nvPr/>
        </p:nvSpPr>
        <p:spPr>
          <a:xfrm>
            <a:off x="6217920" y="3611880"/>
            <a:ext cx="5394960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Output: cited answer + clickable evidence list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4754880"/>
            <a:ext cx="11064240" cy="457200"/>
          </a:xfrm>
          <a:prstGeom prst="rect">
            <a:avLst/>
          </a:prstGeom>
          <a:noFill/>
          <a:ln/>
        </p:spPr>
        <p:txBody>
          <a:bodyPr wrap="square" lIns="635" tIns="1270" rIns="1270" bIns="635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Runs as a web page and API on one VM; no external service while answering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First, a benchmark to define 'correct'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676656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188720"/>
                <a:gridCol w="1463040"/>
                <a:gridCol w="8229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Question type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Tuning set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Held-out (final exam)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Total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Single-paper questions (expected facts)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16 (52)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8 (16)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24 (68)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Multi-paper questions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13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Out-of-scope questions (must refuse)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Total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27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22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49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7589520" y="1234440"/>
            <a:ext cx="4023360" cy="2926080"/>
          </a:xfrm>
          <a:prstGeom prst="rect">
            <a:avLst/>
          </a:prstGeom>
          <a:noFill/>
          <a:ln/>
        </p:spPr>
        <p:txBody>
          <a:bodyPr wrap="square" lIns="635" tIns="1270" rIns="1270" bIns="635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Every question lists the facts a correct answer must contain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Held-out questions written after the design; never used for tuning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Runs the exact production code path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Measures: evidence delivered, facts stated, citations, refusals, time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Baseline: half the evidence never reached the model</a:t>
            </a:r>
            <a:endParaRPr lang="en-US" sz="3000" dirty="0"/>
          </a:p>
        </p:txBody>
      </p:sp>
      <p:sp>
        <p:nvSpPr>
          <p:cNvPr id="4" name="funnel 0"/>
          <p:cNvSpPr/>
          <p:nvPr/>
        </p:nvSpPr>
        <p:spPr>
          <a:xfrm>
            <a:off x="548640" y="1371600"/>
            <a:ext cx="6583680" cy="100584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funnel text 0"/>
          <p:cNvSpPr txBox="1"/>
          <p:nvPr/>
        </p:nvSpPr>
        <p:spPr>
          <a:xfrm>
            <a:off x="777240" y="1371600"/>
            <a:ext cx="6126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52  </a:t>
            </a:r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expected facts in the tuning questions</a:t>
            </a:r>
            <a:endParaRPr lang="en-US" sz="3000" dirty="0"/>
          </a:p>
        </p:txBody>
      </p:sp>
      <p:sp>
        <p:nvSpPr>
          <p:cNvPr id="6" name="funnel 1"/>
          <p:cNvSpPr/>
          <p:nvPr/>
        </p:nvSpPr>
        <p:spPr>
          <a:xfrm>
            <a:off x="1097280" y="2560320"/>
            <a:ext cx="5486400" cy="1005840"/>
          </a:xfrm>
          <a:prstGeom prst="roundRect">
            <a:avLst>
              <a:gd name="adj" fmla="val 5455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" name="funnel text 1"/>
          <p:cNvSpPr txBox="1"/>
          <p:nvPr/>
        </p:nvSpPr>
        <p:spPr>
          <a:xfrm>
            <a:off x="1325880" y="256032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  </a:t>
            </a:r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reached the AI in the 8 passages (50%)</a:t>
            </a:r>
            <a:endParaRPr lang="en-US" sz="3000" dirty="0"/>
          </a:p>
        </p:txBody>
      </p:sp>
      <p:sp>
        <p:nvSpPr>
          <p:cNvPr id="8" name="funnel 2"/>
          <p:cNvSpPr/>
          <p:nvPr/>
        </p:nvSpPr>
        <p:spPr>
          <a:xfrm>
            <a:off x="1645920" y="3749040"/>
            <a:ext cx="4389120" cy="1005840"/>
          </a:xfrm>
          <a:prstGeom prst="roundRect">
            <a:avLst>
              <a:gd name="adj" fmla="val 5455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funnel text 2"/>
          <p:cNvSpPr txBox="1"/>
          <p:nvPr/>
        </p:nvSpPr>
        <p:spPr>
          <a:xfrm>
            <a:off x="1874520" y="374904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≤ 26  </a:t>
            </a:r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facts the AI could possibly state</a:t>
            </a:r>
            <a:endParaRPr lang="en-US" sz="3000" dirty="0"/>
          </a:p>
        </p:txBody>
      </p:sp>
      <p:sp>
        <p:nvSpPr>
          <p:cNvPr id="10" name="zero card"/>
          <p:cNvSpPr/>
          <p:nvPr/>
        </p:nvSpPr>
        <p:spPr>
          <a:xfrm>
            <a:off x="7680960" y="1371600"/>
            <a:ext cx="393192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zero value"/>
          <p:cNvSpPr txBox="1"/>
          <p:nvPr/>
        </p:nvSpPr>
        <p:spPr>
          <a:xfrm>
            <a:off x="7863840" y="1481328"/>
            <a:ext cx="35661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of 16</a:t>
            </a:r>
            <a:endParaRPr lang="en-US" sz="3200" dirty="0"/>
          </a:p>
        </p:txBody>
      </p:sp>
      <p:sp>
        <p:nvSpPr>
          <p:cNvPr id="12" name="zero label"/>
          <p:cNvSpPr txBox="1"/>
          <p:nvPr/>
        </p:nvSpPr>
        <p:spPr>
          <a:xfrm>
            <a:off x="7863840" y="2185416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tuning questions with no expected fact in the evidence at all</a:t>
            </a:r>
            <a:endParaRPr lang="en-US" sz="1300" dirty="0"/>
          </a:p>
        </p:txBody>
      </p:sp>
      <p:sp>
        <p:nvSpPr>
          <p:cNvPr id="13" name="heldout card"/>
          <p:cNvSpPr/>
          <p:nvPr/>
        </p:nvSpPr>
        <p:spPr>
          <a:xfrm>
            <a:off x="7680960" y="2834640"/>
            <a:ext cx="393192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heldout value"/>
          <p:cNvSpPr txBox="1"/>
          <p:nvPr/>
        </p:nvSpPr>
        <p:spPr>
          <a:xfrm>
            <a:off x="7863840" y="2944368"/>
            <a:ext cx="35661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50%</a:t>
            </a:r>
            <a:endParaRPr lang="en-US" sz="3200" dirty="0"/>
          </a:p>
        </p:txBody>
      </p:sp>
      <p:sp>
        <p:nvSpPr>
          <p:cNvPr id="15" name="heldout label"/>
          <p:cNvSpPr txBox="1"/>
          <p:nvPr/>
        </p:nvSpPr>
        <p:spPr>
          <a:xfrm>
            <a:off x="7863840" y="3648456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same on held-out questions (8 of 16 facts)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5120640"/>
            <a:ext cx="11064240" cy="457200"/>
          </a:xfrm>
          <a:prstGeom prst="rect">
            <a:avLst/>
          </a:prstGeom>
          <a:noFill/>
          <a:ln/>
        </p:spPr>
        <p:txBody>
          <a:bodyPr wrap="square" lIns="635" tIns="1270" rIns="1270" bIns="635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Conclusion: retrieval — not the AI model — was the bottleneck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Root cause: the right paper, but the wrong passage</a:t>
            </a:r>
            <a:endParaRPr lang="en-US" sz="3000" dirty="0"/>
          </a:p>
        </p:txBody>
      </p:sp>
      <p:sp>
        <p:nvSpPr>
          <p:cNvPr id="4" name="paper card"/>
          <p:cNvSpPr/>
          <p:nvPr/>
        </p:nvSpPr>
        <p:spPr>
          <a:xfrm>
            <a:off x="548640" y="1280160"/>
            <a:ext cx="265176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aper value"/>
          <p:cNvSpPr txBox="1"/>
          <p:nvPr/>
        </p:nvSpPr>
        <p:spPr>
          <a:xfrm>
            <a:off x="731520" y="1389888"/>
            <a:ext cx="228600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94%</a:t>
            </a:r>
            <a:endParaRPr lang="en-US" sz="3200" dirty="0"/>
          </a:p>
        </p:txBody>
      </p:sp>
      <p:sp>
        <p:nvSpPr>
          <p:cNvPr id="6" name="paper label"/>
          <p:cNvSpPr txBox="1"/>
          <p:nvPr/>
        </p:nvSpPr>
        <p:spPr>
          <a:xfrm>
            <a:off x="731520" y="2144268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right paper found</a:t>
            </a:r>
            <a:endParaRPr lang="en-US" sz="1300" dirty="0"/>
          </a:p>
        </p:txBody>
      </p:sp>
      <p:sp>
        <p:nvSpPr>
          <p:cNvPr id="7" name="passage card"/>
          <p:cNvSpPr/>
          <p:nvPr/>
        </p:nvSpPr>
        <p:spPr>
          <a:xfrm>
            <a:off x="548640" y="2834640"/>
            <a:ext cx="265176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passage value"/>
          <p:cNvSpPr txBox="1"/>
          <p:nvPr/>
        </p:nvSpPr>
        <p:spPr>
          <a:xfrm>
            <a:off x="731520" y="2944368"/>
            <a:ext cx="228600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35%</a:t>
            </a:r>
            <a:endParaRPr lang="en-US" sz="3200" dirty="0"/>
          </a:p>
        </p:txBody>
      </p:sp>
      <p:sp>
        <p:nvSpPr>
          <p:cNvPr id="9" name="passage label"/>
          <p:cNvSpPr txBox="1"/>
          <p:nvPr/>
        </p:nvSpPr>
        <p:spPr>
          <a:xfrm>
            <a:off x="731520" y="3698748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answer passage found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3566160" y="12801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WHY THE PASSAGE WAS MISSED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3566160" y="1691640"/>
            <a:ext cx="3840480" cy="2377440"/>
          </a:xfrm>
          <a:prstGeom prst="rect">
            <a:avLst/>
          </a:prstGeom>
          <a:noFill/>
          <a:ln/>
        </p:spPr>
        <p:txBody>
          <a:bodyPr wrap="square" lIns="635" tIns="1270" rIns="1270" bIns="635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Questions are worded differently from Results sections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The reranker preferred Discussion over Results text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Only 2 passages per paper were allowed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7772400" y="12801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TESTED AND RULED OUT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0" y="1691640"/>
          <a:ext cx="384048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645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Suspect</a:t>
                      </a:r>
                      <a:endParaRPr lang="en-US" sz="13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Result</a:t>
                      </a:r>
                      <a:endParaRPr lang="en-US" sz="13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Index built wrongly</a:t>
                      </a:r>
                      <a:endParaRPr lang="en-US" sz="13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Rebuild identical</a:t>
                      </a:r>
                      <a:endParaRPr lang="en-US" sz="13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Text cut off when embedding</a:t>
                      </a:r>
                      <a:endParaRPr lang="en-US" sz="13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No effect</a:t>
                      </a:r>
                      <a:endParaRPr lang="en-US" sz="13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Distance metric</a:t>
                      </a:r>
                      <a:endParaRPr lang="en-US" sz="13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No effect</a:t>
                      </a:r>
                      <a:endParaRPr lang="en-US" sz="13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Rewriting the query</a:t>
                      </a:r>
                      <a:endParaRPr lang="en-US" sz="13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+0 answer passages</a:t>
                      </a:r>
                      <a:endParaRPr lang="en-US" sz="13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Biomedical reranker</a:t>
                      </a:r>
                      <a:endParaRPr lang="en-US" sz="13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Worse, 3× slower</a:t>
                      </a:r>
                      <a:endParaRPr lang="en-US" sz="13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Paper-first retrieval: find the study, then read it deeply</a:t>
            </a:r>
            <a:endParaRPr lang="en-US" sz="3000" dirty="0"/>
          </a:p>
        </p:txBody>
      </p:sp>
      <p:sp>
        <p:nvSpPr>
          <p:cNvPr id="4" name="flow 0"/>
          <p:cNvSpPr/>
          <p:nvPr/>
        </p:nvSpPr>
        <p:spPr>
          <a:xfrm>
            <a:off x="548640" y="1325880"/>
            <a:ext cx="5669280" cy="86868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flow 0 text"/>
          <p:cNvSpPr txBox="1"/>
          <p:nvPr/>
        </p:nvSpPr>
        <p:spPr>
          <a:xfrm>
            <a:off x="548640" y="1325880"/>
            <a:ext cx="566928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568 papers</a:t>
            </a:r>
            <a:endParaRPr lang="en-US" sz="1500" dirty="0"/>
          </a:p>
        </p:txBody>
      </p:sp>
      <p:sp>
        <p:nvSpPr>
          <p:cNvPr id="6" name="flow arrow 0"/>
          <p:cNvSpPr/>
          <p:nvPr/>
        </p:nvSpPr>
        <p:spPr>
          <a:xfrm>
            <a:off x="3383280" y="2194560"/>
            <a:ext cx="914" cy="182880"/>
          </a:xfrm>
          <a:prstGeom prst="line">
            <a:avLst/>
          </a:prstGeom>
          <a:noFill/>
          <a:ln w="15875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7" name="flow 1"/>
          <p:cNvSpPr/>
          <p:nvPr/>
        </p:nvSpPr>
        <p:spPr>
          <a:xfrm>
            <a:off x="1005840" y="2377440"/>
            <a:ext cx="4754880" cy="86868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flow 1 text"/>
          <p:cNvSpPr txBox="1"/>
          <p:nvPr/>
        </p:nvSpPr>
        <p:spPr>
          <a:xfrm>
            <a:off x="1005840" y="2377440"/>
            <a:ext cx="475488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Top papers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(by title + abstract + text)</a:t>
            </a:r>
            <a:endParaRPr lang="en-US" sz="1500" dirty="0"/>
          </a:p>
        </p:txBody>
      </p:sp>
      <p:sp>
        <p:nvSpPr>
          <p:cNvPr id="9" name="flow arrow 1"/>
          <p:cNvSpPr/>
          <p:nvPr/>
        </p:nvSpPr>
        <p:spPr>
          <a:xfrm>
            <a:off x="3383280" y="3246120"/>
            <a:ext cx="914" cy="182880"/>
          </a:xfrm>
          <a:prstGeom prst="line">
            <a:avLst/>
          </a:prstGeom>
          <a:noFill/>
          <a:ln w="15875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10" name="flow 2"/>
          <p:cNvSpPr/>
          <p:nvPr/>
        </p:nvSpPr>
        <p:spPr>
          <a:xfrm>
            <a:off x="1463040" y="3429000"/>
            <a:ext cx="3840480" cy="868680"/>
          </a:xfrm>
          <a:prstGeom prst="roundRect">
            <a:avLst>
              <a:gd name="adj" fmla="val 631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flow 2 text"/>
          <p:cNvSpPr txBox="1"/>
          <p:nvPr/>
        </p:nvSpPr>
        <p:spPr>
          <a:xfrm>
            <a:off x="1463040" y="3429000"/>
            <a:ext cx="384048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Best passages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inside those papers</a:t>
            </a:r>
            <a:endParaRPr lang="en-US" sz="1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0" y="1325880"/>
          <a:ext cx="493776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28346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Question type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Evidence given to the AI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About one study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6 passages from the top paper + 2 from the next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Broad, across studies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 passage from each of 8 papers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Nothing relevant (score &lt; 3.5)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Refuse — no AI call (≈ 4 s)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3" name="Text 9"/>
          <p:cNvSpPr txBox="1"/>
          <p:nvPr/>
        </p:nvSpPr>
        <p:spPr>
          <a:xfrm>
            <a:off x="548640" y="4754880"/>
            <a:ext cx="11064240" cy="548640"/>
          </a:xfrm>
          <a:prstGeom prst="rect">
            <a:avLst/>
          </a:prstGeom>
          <a:noFill/>
          <a:ln/>
        </p:spPr>
        <p:txBody>
          <a:bodyPr wrap="square" lIns="635" tIns="1270" rIns="1270" bIns="635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Design follows the diagnosis: keep what worked (paper search), fix what failed (passage choice)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Result: evidence reaching the model rose from 50% to 88%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188720"/>
          <a:ext cx="694944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gain card"/>
          <p:cNvSpPr/>
          <p:nvPr/>
        </p:nvSpPr>
        <p:spPr>
          <a:xfrm>
            <a:off x="7863840" y="1280160"/>
            <a:ext cx="374904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gain value"/>
          <p:cNvSpPr txBox="1"/>
          <p:nvPr/>
        </p:nvSpPr>
        <p:spPr>
          <a:xfrm>
            <a:off x="8046720" y="1389888"/>
            <a:ext cx="338328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+38 pts</a:t>
            </a:r>
            <a:endParaRPr lang="en-US" sz="3200" dirty="0"/>
          </a:p>
        </p:txBody>
      </p:sp>
      <p:sp>
        <p:nvSpPr>
          <p:cNvPr id="7" name="gain label"/>
          <p:cNvSpPr txBox="1"/>
          <p:nvPr/>
        </p:nvSpPr>
        <p:spPr>
          <a:xfrm>
            <a:off x="8046720" y="2144268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facts reaching the AI (26 → 46 of 52)</a:t>
            </a:r>
            <a:endParaRPr lang="en-US" sz="1300" dirty="0"/>
          </a:p>
        </p:txBody>
      </p:sp>
      <p:sp>
        <p:nvSpPr>
          <p:cNvPr id="8" name="none card"/>
          <p:cNvSpPr/>
          <p:nvPr/>
        </p:nvSpPr>
        <p:spPr>
          <a:xfrm>
            <a:off x="7863840" y="2834640"/>
            <a:ext cx="374904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none value"/>
          <p:cNvSpPr txBox="1"/>
          <p:nvPr/>
        </p:nvSpPr>
        <p:spPr>
          <a:xfrm>
            <a:off x="8046720" y="2944368"/>
            <a:ext cx="338328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→ 0</a:t>
            </a:r>
            <a:endParaRPr lang="en-US" sz="3200" dirty="0"/>
          </a:p>
        </p:txBody>
      </p:sp>
      <p:sp>
        <p:nvSpPr>
          <p:cNvPr id="10" name="none label"/>
          <p:cNvSpPr txBox="1"/>
          <p:nvPr/>
        </p:nvSpPr>
        <p:spPr>
          <a:xfrm>
            <a:off x="8046720" y="3698748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questions with no evidence at all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Proof: 81% on 22 questions never used for tuning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188720"/>
          <a:ext cx="694944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863840" y="1280160"/>
          <a:ext cx="374904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914400"/>
                <a:gridCol w="914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Held-out metric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Before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After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Facts reaching the AI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50%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6"/>
                          </a:solidFill>
                        </a:rPr>
                        <a:t>81%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Multi-paper coverage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0.30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6"/>
                          </a:solidFill>
                        </a:rPr>
                        <a:t>0.53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Questions with no evidence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6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6" name="Text 1"/>
          <p:cNvSpPr txBox="1"/>
          <p:nvPr/>
        </p:nvSpPr>
        <p:spPr>
          <a:xfrm>
            <a:off x="7863840" y="3017520"/>
            <a:ext cx="3749040" cy="1097280"/>
          </a:xfrm>
          <a:prstGeom prst="rect">
            <a:avLst/>
          </a:prstGeom>
          <a:noFill/>
          <a:ln/>
        </p:spPr>
        <p:txBody>
          <a:bodyPr wrap="square" lIns="635" tIns="1270" rIns="1270" bIns="635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Similar gain on unseen questions → the improvement is real, not memorised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Answers state 85% of the evidence and refuse correctly</a:t>
            </a:r>
            <a:endParaRPr lang="en-US" sz="3000" dirty="0"/>
          </a:p>
        </p:txBody>
      </p:sp>
      <p:sp>
        <p:nvSpPr>
          <p:cNvPr id="4" name="retention card"/>
          <p:cNvSpPr/>
          <p:nvPr/>
        </p:nvSpPr>
        <p:spPr>
          <a:xfrm>
            <a:off x="548640" y="1280160"/>
            <a:ext cx="356616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retention value"/>
          <p:cNvSpPr txBox="1"/>
          <p:nvPr/>
        </p:nvSpPr>
        <p:spPr>
          <a:xfrm>
            <a:off x="731520" y="1389888"/>
            <a:ext cx="3200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85%</a:t>
            </a:r>
            <a:endParaRPr lang="en-US" sz="3200" dirty="0"/>
          </a:p>
        </p:txBody>
      </p:sp>
      <p:sp>
        <p:nvSpPr>
          <p:cNvPr id="6" name="retention label"/>
          <p:cNvSpPr txBox="1"/>
          <p:nvPr/>
        </p:nvSpPr>
        <p:spPr>
          <a:xfrm>
            <a:off x="731520" y="2194560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of facts in the evidence stated (50 of 59)</a:t>
            </a:r>
            <a:endParaRPr lang="en-US" sz="1300" dirty="0"/>
          </a:p>
        </p:txBody>
      </p:sp>
      <p:sp>
        <p:nvSpPr>
          <p:cNvPr id="7" name="controls card"/>
          <p:cNvSpPr/>
          <p:nvPr/>
        </p:nvSpPr>
        <p:spPr>
          <a:xfrm>
            <a:off x="4297680" y="1280160"/>
            <a:ext cx="356616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controls value"/>
          <p:cNvSpPr txBox="1"/>
          <p:nvPr/>
        </p:nvSpPr>
        <p:spPr>
          <a:xfrm>
            <a:off x="4480560" y="1389888"/>
            <a:ext cx="3200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/ 12</a:t>
            </a:r>
            <a:endParaRPr lang="en-US" sz="3200" dirty="0"/>
          </a:p>
        </p:txBody>
      </p:sp>
      <p:sp>
        <p:nvSpPr>
          <p:cNvPr id="9" name="controls label"/>
          <p:cNvSpPr txBox="1"/>
          <p:nvPr/>
        </p:nvSpPr>
        <p:spPr>
          <a:xfrm>
            <a:off x="4480560" y="2194560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out-of-scope questions with invented claims</a:t>
            </a:r>
            <a:endParaRPr lang="en-US" sz="1300" dirty="0"/>
          </a:p>
        </p:txBody>
      </p:sp>
      <p:sp>
        <p:nvSpPr>
          <p:cNvPr id="10" name="validation card"/>
          <p:cNvSpPr/>
          <p:nvPr/>
        </p:nvSpPr>
        <p:spPr>
          <a:xfrm>
            <a:off x="8046720" y="1280160"/>
            <a:ext cx="356616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validation value"/>
          <p:cNvSpPr txBox="1"/>
          <p:nvPr/>
        </p:nvSpPr>
        <p:spPr>
          <a:xfrm>
            <a:off x="8229600" y="1389888"/>
            <a:ext cx="3200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→ 0</a:t>
            </a:r>
            <a:endParaRPr lang="en-US" sz="3200" dirty="0"/>
          </a:p>
        </p:txBody>
      </p:sp>
      <p:sp>
        <p:nvSpPr>
          <p:cNvPr id="12" name="validation label"/>
          <p:cNvSpPr txBox="1"/>
          <p:nvPr/>
        </p:nvSpPr>
        <p:spPr>
          <a:xfrm>
            <a:off x="8229600" y="2194560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correct answers discarded by validation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30632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REMAINING LIMITS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474720"/>
          <a:ext cx="11064240" cy="914400"/>
        </p:xfrm>
        <a:graphic>
          <a:graphicData uri="http://schemas.openxmlformats.org/drawingml/2006/table">
            <a:tbl>
              <a:tblPr/>
              <a:tblGrid>
                <a:gridCol w="6949440"/>
                <a:gridCol w="4114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Limit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How often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Secondary statistics omitted beside the main finding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≈ 15% of facts given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Citation not always on the same line as the claim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56–72% on the same line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Arithmetic slip in a derived number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 in 20 answers checked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Facts are now lost equally in search and in writing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280160"/>
          <a:ext cx="1106424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earch loss"/>
          <p:cNvSpPr/>
          <p:nvPr/>
        </p:nvSpPr>
        <p:spPr>
          <a:xfrm>
            <a:off x="548640" y="4023360"/>
            <a:ext cx="5394960" cy="109728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search loss text"/>
          <p:cNvSpPr txBox="1"/>
          <p:nvPr/>
        </p:nvSpPr>
        <p:spPr>
          <a:xfrm>
            <a:off x="548640" y="4023360"/>
            <a:ext cx="5394960" cy="1097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Search losses (9): known hard cases — passage cut off, low rank inside the paper</a:t>
            </a:r>
            <a:endParaRPr lang="en-US" sz="1500" dirty="0"/>
          </a:p>
        </p:txBody>
      </p:sp>
      <p:sp>
        <p:nvSpPr>
          <p:cNvPr id="7" name="writing loss"/>
          <p:cNvSpPr/>
          <p:nvPr/>
        </p:nvSpPr>
        <p:spPr>
          <a:xfrm>
            <a:off x="6217920" y="4023360"/>
            <a:ext cx="5394960" cy="1097280"/>
          </a:xfrm>
          <a:prstGeom prst="roundRect">
            <a:avLst>
              <a:gd name="adj" fmla="val 5000"/>
            </a:avLst>
          </a:prstGeom>
          <a:solidFill>
            <a:srgbClr val="FBEFD9"/>
          </a:solidFill>
          <a:ln w="12700">
            <a:solidFill>
              <a:srgbClr val="FBEFD9"/>
            </a:solidFill>
            <a:prstDash val="solid"/>
          </a:ln>
        </p:spPr>
      </p:sp>
      <p:sp>
        <p:nvSpPr>
          <p:cNvPr id="8" name="writing loss text"/>
          <p:cNvSpPr txBox="1"/>
          <p:nvPr/>
        </p:nvSpPr>
        <p:spPr>
          <a:xfrm>
            <a:off x="6217920" y="4023360"/>
            <a:ext cx="5394960" cy="1097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Writing losses (9): the open question — would a different AI model keep them?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Seven configurations, same evidence: Qwen 2.5 7B stays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188720"/>
          <a:ext cx="7223760" cy="4937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046720" y="1280160"/>
          <a:ext cx="3566160" cy="914400"/>
        </p:xfrm>
        <a:graphic>
          <a:graphicData uri="http://schemas.openxmlformats.org/drawingml/2006/table">
            <a:tbl>
              <a:tblPr/>
              <a:tblGrid>
                <a:gridCol w="1783080"/>
                <a:gridCol w="17830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Why Qwen 2.5 7B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Facts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Top group (± 2 = noise)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Speed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Fastest: 90–96 s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RAM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5.2 GB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Refusals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Correct, concise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Licence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Apache 2.0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Where the 100 seconds go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188720"/>
          <a:ext cx="1106424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749040"/>
          <a:ext cx="667512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1371600"/>
                <a:gridCol w="1463040"/>
                <a:gridCol w="1371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Piece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Tokens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Speed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Time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Question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≈ 26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&lt; 1 s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Instructions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≈ 590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77 tok/s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≈ 8 s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8 evidence passages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≈ 2,670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77 tok/s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≈ 35 s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Answer written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≈ 370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7.3 tok/s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≈ 52 s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6" name="threads card"/>
          <p:cNvSpPr/>
          <p:nvPr/>
        </p:nvSpPr>
        <p:spPr>
          <a:xfrm>
            <a:off x="7589520" y="3749040"/>
            <a:ext cx="192024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hreads value"/>
          <p:cNvSpPr txBox="1"/>
          <p:nvPr/>
        </p:nvSpPr>
        <p:spPr>
          <a:xfrm>
            <a:off x="7772400" y="3858768"/>
            <a:ext cx="1554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18–25%</a:t>
            </a:r>
            <a:endParaRPr lang="en-US" sz="3200" dirty="0"/>
          </a:p>
        </p:txBody>
      </p:sp>
      <p:sp>
        <p:nvSpPr>
          <p:cNvPr id="8" name="threads label"/>
          <p:cNvSpPr txBox="1"/>
          <p:nvPr/>
        </p:nvSpPr>
        <p:spPr>
          <a:xfrm>
            <a:off x="7772400" y="4663440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faster: 8 threads</a:t>
            </a:r>
            <a:endParaRPr lang="en-US" sz="1300" dirty="0"/>
          </a:p>
        </p:txBody>
      </p:sp>
      <p:sp>
        <p:nvSpPr>
          <p:cNvPr id="9" name="gpu card"/>
          <p:cNvSpPr/>
          <p:nvPr/>
        </p:nvSpPr>
        <p:spPr>
          <a:xfrm>
            <a:off x="9692640" y="3749040"/>
            <a:ext cx="192024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gpu value"/>
          <p:cNvSpPr txBox="1"/>
          <p:nvPr/>
        </p:nvSpPr>
        <p:spPr>
          <a:xfrm>
            <a:off x="9875520" y="3858768"/>
            <a:ext cx="1554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10–20 s</a:t>
            </a:r>
            <a:endParaRPr lang="en-US" sz="3200" dirty="0"/>
          </a:p>
        </p:txBody>
      </p:sp>
      <p:sp>
        <p:nvSpPr>
          <p:cNvPr id="11" name="gpu label"/>
          <p:cNvSpPr txBox="1"/>
          <p:nvPr/>
        </p:nvSpPr>
        <p:spPr>
          <a:xfrm>
            <a:off x="9875520" y="4663440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with a GPU (est.)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Long test runs revealed hidden memory growth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188720"/>
          <a:ext cx="6309360" cy="4937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32320" y="1280160"/>
          <a:ext cx="448056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9260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Question</a:t>
                      </a:r>
                      <a:endParaRPr lang="en-US" sz="13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Finding</a:t>
                      </a:r>
                      <a:endParaRPr lang="en-US" sz="13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Where is it stored?</a:t>
                      </a:r>
                      <a:endParaRPr lang="en-US" sz="13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In RAM of the AI process (llama-server)</a:t>
                      </a:r>
                      <a:endParaRPr lang="en-US" sz="13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What is stored?</a:t>
                      </a:r>
                      <a:endParaRPr lang="en-US" sz="13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Each prompt's working state, ≈ 0.19 GB</a:t>
                      </a:r>
                      <a:endParaRPr lang="en-US" sz="13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Limit?</a:t>
                      </a:r>
                      <a:endParaRPr lang="en-US" sz="13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Up to 8 GB; no setting to change it</a:t>
                      </a:r>
                      <a:endParaRPr lang="en-US" sz="13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Evidence</a:t>
                      </a:r>
                      <a:endParaRPr lang="en-US" sz="13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Ollama log: "39 prompts, 7,804 MiB"</a:t>
                      </a:r>
                      <a:endParaRPr lang="en-US" sz="13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Impact</a:t>
                      </a:r>
                      <a:endParaRPr lang="en-US" sz="13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16 GB VM, no swap → crash ≈ answer 40</a:t>
                      </a:r>
                      <a:endParaRPr lang="en-US" sz="13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Fixed and verified: memory bounded over 75 answers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188720"/>
          <a:ext cx="6309360" cy="4937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32320" y="1280160"/>
          <a:ext cx="44805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2860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Check (75 live answers)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Result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Peak memory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6"/>
                          </a:solidFill>
                        </a:rPr>
                        <a:t>7.8–8.6 GB (was 12.9)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Errors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6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Same evidence retrieved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6"/>
                          </a:solidFill>
                        </a:rPr>
                        <a:t>75 / 75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Facts stated vs before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6"/>
                          </a:solidFill>
                        </a:rPr>
                        <a:t>107 vs 106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Cost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≈ 6 s reload, between requests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Documents stay on the machine; one connection to close</a:t>
            </a:r>
            <a:endParaRPr lang="en-US" sz="30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5486400"/>
                <a:gridCol w="55778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Check</a:t>
                      </a:r>
                      <a:endParaRPr lang="en-US" sz="16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Result</a:t>
                      </a:r>
                      <a:endParaRPr lang="en-US" sz="16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Questions, documents, answers leaving the VM</a:t>
                      </a:r>
                      <a:endParaRPr lang="en-US" sz="16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6"/>
                          </a:solidFill>
                        </a:rPr>
                        <a:t>None — traffic stays inside the machine</a:t>
                      </a:r>
                      <a:endParaRPr lang="en-US" sz="16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Cloud AI or telemetry</a:t>
                      </a:r>
                      <a:endParaRPr lang="en-US" sz="16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6"/>
                          </a:solidFill>
                        </a:rPr>
                        <a:t>None</a:t>
                      </a:r>
                      <a:endParaRPr lang="en-US" sz="16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Ollama connection to ollama.com</a:t>
                      </a:r>
                      <a:endParaRPr lang="en-US" sz="16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3"/>
                          </a:solidFill>
                        </a:rPr>
                        <a:t>Open from start-up</a:t>
                      </a:r>
                      <a:endParaRPr lang="en-US" sz="16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Fix: OLLAMA_NO_CLOUD=1 + firewall rule</a:t>
                      </a:r>
                      <a:endParaRPr lang="en-US" sz="16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2"/>
                          </a:solidFill>
                        </a:rPr>
                        <a:t>Verified on test instance; admin to apply</a:t>
                      </a:r>
                      <a:endParaRPr lang="en-US" sz="16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5" name="still needed"/>
          <p:cNvSpPr/>
          <p:nvPr/>
        </p:nvSpPr>
        <p:spPr>
          <a:xfrm>
            <a:off x="548640" y="3931920"/>
            <a:ext cx="11064240" cy="82296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still needed text"/>
          <p:cNvSpPr txBox="1"/>
          <p:nvPr/>
        </p:nvSpPr>
        <p:spPr>
          <a:xfrm>
            <a:off x="548640" y="3931920"/>
            <a:ext cx="1106424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Still needed for multi-user use: login · per-document access control · retention and encryption of stored questions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Pilot-ready after two admin steps, not production-ready</a:t>
            </a:r>
            <a:endParaRPr lang="en-US" sz="30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2743200"/>
                <a:gridCol w="52120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Area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Status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Basis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Answer quality and refusals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6"/>
                          </a:solidFill>
                        </a:rPr>
                        <a:t>Ready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85% of evidence stated; 0 invented claims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Retrieval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6"/>
                          </a:solidFill>
                        </a:rPr>
                        <a:t>Ready (current corpus)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88% / 81% held-out; re-test at 10k+ documents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Speed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6"/>
                          </a:solidFill>
                        </a:rPr>
                        <a:t>Within target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≈ 100 s per answer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Memory stability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6"/>
                          </a:solidFill>
                        </a:rPr>
                        <a:t>Ready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Bounded; 75 live answers, 0 errors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Privacy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</a:rPr>
                        <a:t>Admin step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OLLAMA_NO_CLOUD + firewall rule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Reliability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</a:rPr>
                        <a:t>Admin step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Enable auto-start after reboot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Security / multi-user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3"/>
                          </a:solidFill>
                        </a:rPr>
                        <a:t>Not ready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No login, no access control, plain-text logs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Document formats / scale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3"/>
                          </a:solidFill>
                        </a:rPr>
                        <a:t>Not ready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PubMed XML only; one request at a time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What it takes to scale</a:t>
            </a:r>
            <a:endParaRPr lang="en-US" sz="30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2011680"/>
                <a:gridCol w="1463040"/>
                <a:gridCol w="2743200"/>
                <a:gridCol w="15544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Hardware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Answer time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Users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Documents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Basis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16 GB laptop (Qwen 3 4B)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1.5–3 min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15–30k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est.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32 GB laptop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1.5–2 min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1–2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≈ 150k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est.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Current VM, 16 GB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≈ 100 s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5–10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+15k on current disk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6"/>
                          </a:solidFill>
                        </a:rPr>
                        <a:t>measured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Department server, 1 GPU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10–20 s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100–150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1M+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est.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5" name="disk card"/>
          <p:cNvSpPr/>
          <p:nvPr/>
        </p:nvSpPr>
        <p:spPr>
          <a:xfrm>
            <a:off x="548640" y="3749040"/>
            <a:ext cx="356616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disk value"/>
          <p:cNvSpPr txBox="1"/>
          <p:nvPr/>
        </p:nvSpPr>
        <p:spPr>
          <a:xfrm>
            <a:off x="731520" y="3858768"/>
            <a:ext cx="320040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0.53 GB</a:t>
            </a:r>
            <a:endParaRPr lang="en-US" sz="3200" dirty="0"/>
          </a:p>
        </p:txBody>
      </p:sp>
      <p:sp>
        <p:nvSpPr>
          <p:cNvPr id="7" name="disk label"/>
          <p:cNvSpPr txBox="1"/>
          <p:nvPr/>
        </p:nvSpPr>
        <p:spPr>
          <a:xfrm>
            <a:off x="731520" y="4613148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disk per 1,000 documents (≈ 20 pages each)</a:t>
            </a:r>
            <a:endParaRPr lang="en-US" sz="1300" dirty="0"/>
          </a:p>
        </p:txBody>
      </p:sp>
      <p:sp>
        <p:nvSpPr>
          <p:cNvPr id="8" name="ram card"/>
          <p:cNvSpPr/>
          <p:nvPr/>
        </p:nvSpPr>
        <p:spPr>
          <a:xfrm>
            <a:off x="4297680" y="3749040"/>
            <a:ext cx="356616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ram value"/>
          <p:cNvSpPr txBox="1"/>
          <p:nvPr/>
        </p:nvSpPr>
        <p:spPr>
          <a:xfrm>
            <a:off x="4480560" y="3858768"/>
            <a:ext cx="320040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64 MB</a:t>
            </a:r>
            <a:endParaRPr lang="en-US" sz="3200" dirty="0"/>
          </a:p>
        </p:txBody>
      </p:sp>
      <p:sp>
        <p:nvSpPr>
          <p:cNvPr id="10" name="ram label"/>
          <p:cNvSpPr txBox="1"/>
          <p:nvPr/>
        </p:nvSpPr>
        <p:spPr>
          <a:xfrm>
            <a:off x="4480560" y="4613148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RAM per 1,000 documents</a:t>
            </a:r>
            <a:endParaRPr lang="en-US" sz="1300" dirty="0"/>
          </a:p>
        </p:txBody>
      </p:sp>
      <p:sp>
        <p:nvSpPr>
          <p:cNvPr id="11" name="index card"/>
          <p:cNvSpPr/>
          <p:nvPr/>
        </p:nvSpPr>
        <p:spPr>
          <a:xfrm>
            <a:off x="8046720" y="3749040"/>
            <a:ext cx="356616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index value"/>
          <p:cNvSpPr txBox="1"/>
          <p:nvPr/>
        </p:nvSpPr>
        <p:spPr>
          <a:xfrm>
            <a:off x="8229600" y="3858768"/>
            <a:ext cx="320040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45 min</a:t>
            </a:r>
            <a:endParaRPr lang="en-US" sz="3200" dirty="0"/>
          </a:p>
        </p:txBody>
      </p:sp>
      <p:sp>
        <p:nvSpPr>
          <p:cNvPr id="13" name="index label"/>
          <p:cNvSpPr txBox="1"/>
          <p:nvPr/>
        </p:nvSpPr>
        <p:spPr>
          <a:xfrm>
            <a:off x="8229600" y="4613148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indexing per 1,000 documents (this VM)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Remaining work and decisions requested</a:t>
            </a:r>
            <a:endParaRPr lang="en-US" sz="30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694944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4023360"/>
                <a:gridCol w="21031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When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Work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Why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Now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Block Ollama egress · enable auto-start · add swap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Privacy, reliability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Next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Login, access control, retention policy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Multi-user safety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Next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PDF / DOCX ingestion + retrieval re-test at scale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Internal documents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Next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Answer structure + claim-level citations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The 15% omission gap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Later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GPU server, parallel requests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Speed, concurrency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decision 1"/>
          <p:cNvSpPr/>
          <p:nvPr/>
        </p:nvSpPr>
        <p:spPr>
          <a:xfrm>
            <a:off x="7772400" y="1234440"/>
            <a:ext cx="3840480" cy="1143000"/>
          </a:xfrm>
          <a:prstGeom prst="roundRect">
            <a:avLst>
              <a:gd name="adj" fmla="val 64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decision text 1"/>
          <p:cNvSpPr txBox="1"/>
          <p:nvPr/>
        </p:nvSpPr>
        <p:spPr>
          <a:xfrm>
            <a:off x="7955280" y="1325880"/>
            <a:ext cx="3474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Decision 1 · Approve a pilot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3–5 researchers, current VM</a:t>
            </a:r>
            <a:endParaRPr lang="en-US" sz="1600" dirty="0"/>
          </a:p>
        </p:txBody>
      </p:sp>
      <p:sp>
        <p:nvSpPr>
          <p:cNvPr id="7" name="decision 2"/>
          <p:cNvSpPr/>
          <p:nvPr/>
        </p:nvSpPr>
        <p:spPr>
          <a:xfrm>
            <a:off x="7772400" y="2560320"/>
            <a:ext cx="3840480" cy="1143000"/>
          </a:xfrm>
          <a:prstGeom prst="roundRect">
            <a:avLst>
              <a:gd name="adj" fmla="val 64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8" name="decision text 2"/>
          <p:cNvSpPr txBox="1"/>
          <p:nvPr/>
        </p:nvSpPr>
        <p:spPr>
          <a:xfrm>
            <a:off x="7955280" y="2651760"/>
            <a:ext cx="3474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Decision 2 · Approve next work package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Security + formats + answer structure</a:t>
            </a:r>
            <a:endParaRPr lang="en-US" sz="1600" dirty="0"/>
          </a:p>
        </p:txBody>
      </p:sp>
      <p:sp>
        <p:nvSpPr>
          <p:cNvPr id="9" name="decision 3"/>
          <p:cNvSpPr/>
          <p:nvPr/>
        </p:nvSpPr>
        <p:spPr>
          <a:xfrm>
            <a:off x="7772400" y="3886200"/>
            <a:ext cx="3840480" cy="1143000"/>
          </a:xfrm>
          <a:prstGeom prst="roundRect">
            <a:avLst>
              <a:gd name="adj" fmla="val 64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0" name="decision text 3"/>
          <p:cNvSpPr txBox="1"/>
          <p:nvPr/>
        </p:nvSpPr>
        <p:spPr>
          <a:xfrm>
            <a:off x="7955280" y="3977640"/>
            <a:ext cx="3474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Decision 3 · GPU server?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≈ 10–20 s answers, 100+ users (est.)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Appendix A1 · Full model comparison</a:t>
            </a:r>
            <a:endParaRPr lang="en-US" sz="30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914400"/>
                <a:gridCol w="868680"/>
                <a:gridCol w="868680"/>
                <a:gridCol w="960120"/>
                <a:gridCol w="914400"/>
                <a:gridCol w="1097280"/>
                <a:gridCol w="1143000"/>
                <a:gridCol w="1097280"/>
                <a:gridCol w="14630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Model</a:t>
                      </a:r>
                      <a:endParaRPr lang="en-US" sz="13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Facts / 40</a:t>
                      </a:r>
                      <a:endParaRPr lang="en-US" sz="13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Median</a:t>
                      </a:r>
                      <a:endParaRPr lang="en-US" sz="13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p90</a:t>
                      </a:r>
                      <a:endParaRPr lang="en-US" sz="13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RAM</a:t>
                      </a:r>
                      <a:endParaRPr lang="en-US" sz="13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Disk</a:t>
                      </a:r>
                      <a:endParaRPr lang="en-US" sz="13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Read tok/s</a:t>
                      </a:r>
                      <a:endParaRPr lang="en-US" sz="13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Write tok/s</a:t>
                      </a:r>
                      <a:endParaRPr lang="en-US" sz="13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Answer tok</a:t>
                      </a:r>
                      <a:endParaRPr lang="en-US" sz="13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Verdict</a:t>
                      </a:r>
                      <a:endParaRPr lang="en-US" sz="13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Qwen 2.5 7B Q4</a:t>
                      </a:r>
                      <a:endParaRPr lang="en-US" sz="13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32</a:t>
                      </a:r>
                      <a:endParaRPr lang="en-US" sz="13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90 s</a:t>
                      </a:r>
                      <a:endParaRPr lang="en-US" sz="13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106 s</a:t>
                      </a:r>
                      <a:endParaRPr lang="en-US" sz="13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5.2 GB</a:t>
                      </a:r>
                      <a:endParaRPr lang="en-US" sz="13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4.7 GB</a:t>
                      </a:r>
                      <a:endParaRPr lang="en-US" sz="13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77</a:t>
                      </a:r>
                      <a:endParaRPr lang="en-US" sz="13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7.3</a:t>
                      </a:r>
                      <a:endParaRPr lang="en-US" sz="13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370</a:t>
                      </a:r>
                      <a:endParaRPr lang="en-US" sz="13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6"/>
                          </a:solidFill>
                        </a:rPr>
                        <a:t>Selected</a:t>
                      </a:r>
                      <a:endParaRPr lang="en-US" sz="13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Qwen 2.5 7B Q8</a:t>
                      </a:r>
                      <a:endParaRPr lang="en-US" sz="13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28</a:t>
                      </a:r>
                      <a:endParaRPr lang="en-US" sz="13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116 s</a:t>
                      </a:r>
                      <a:endParaRPr lang="en-US" sz="13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144 s</a:t>
                      </a:r>
                      <a:endParaRPr lang="en-US" sz="13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9.2 GB</a:t>
                      </a:r>
                      <a:endParaRPr lang="en-US" sz="13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8.1 GB</a:t>
                      </a:r>
                      <a:endParaRPr lang="en-US" sz="13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53</a:t>
                      </a:r>
                      <a:endParaRPr lang="en-US" sz="13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6.2</a:t>
                      </a:r>
                      <a:endParaRPr lang="en-US" sz="13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326</a:t>
                      </a:r>
                      <a:endParaRPr lang="en-US" sz="13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3"/>
                          </a:solidFill>
                        </a:rPr>
                        <a:t>No gain</a:t>
                      </a:r>
                      <a:endParaRPr lang="en-US" sz="13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Qwen 3 4B</a:t>
                      </a:r>
                      <a:endParaRPr lang="en-US" sz="13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34</a:t>
                      </a:r>
                      <a:endParaRPr lang="en-US" sz="13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128 s</a:t>
                      </a:r>
                      <a:endParaRPr lang="en-US" sz="13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165 s</a:t>
                      </a:r>
                      <a:endParaRPr lang="en-US" sz="13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4.0 GB</a:t>
                      </a:r>
                      <a:endParaRPr lang="en-US" sz="13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2.5 GB</a:t>
                      </a:r>
                      <a:endParaRPr lang="en-US" sz="13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101</a:t>
                      </a:r>
                      <a:endParaRPr lang="en-US" sz="13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6.9</a:t>
                      </a:r>
                      <a:endParaRPr lang="en-US" sz="13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616</a:t>
                      </a:r>
                      <a:endParaRPr lang="en-US" sz="13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2"/>
                          </a:solidFill>
                        </a:rPr>
                        <a:t>Verbose</a:t>
                      </a:r>
                      <a:endParaRPr lang="en-US" sz="13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Qwen 3 8B</a:t>
                      </a:r>
                      <a:endParaRPr lang="en-US" sz="13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32</a:t>
                      </a:r>
                      <a:endParaRPr lang="en-US" sz="13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160 s</a:t>
                      </a:r>
                      <a:endParaRPr lang="en-US" sz="13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201 s</a:t>
                      </a:r>
                      <a:endParaRPr lang="en-US" sz="13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6.4 GB</a:t>
                      </a:r>
                      <a:endParaRPr lang="en-US" sz="13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5.2 GB</a:t>
                      </a:r>
                      <a:endParaRPr lang="en-US" sz="13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65</a:t>
                      </a:r>
                      <a:endParaRPr lang="en-US" sz="13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4.9</a:t>
                      </a:r>
                      <a:endParaRPr lang="en-US" sz="13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566</a:t>
                      </a:r>
                      <a:endParaRPr lang="en-US" sz="13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3"/>
                          </a:solidFill>
                        </a:rPr>
                        <a:t>Slower</a:t>
                      </a:r>
                      <a:endParaRPr lang="en-US" sz="13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Llama 3.1 8B</a:t>
                      </a:r>
                      <a:endParaRPr lang="en-US" sz="13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27</a:t>
                      </a:r>
                      <a:endParaRPr lang="en-US" sz="13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127 s</a:t>
                      </a:r>
                      <a:endParaRPr lang="en-US" sz="13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147 s</a:t>
                      </a:r>
                      <a:endParaRPr lang="en-US" sz="13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6.0 GB</a:t>
                      </a:r>
                      <a:endParaRPr lang="en-US" sz="13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4.9 GB</a:t>
                      </a:r>
                      <a:endParaRPr lang="en-US" sz="13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67</a:t>
                      </a:r>
                      <a:endParaRPr lang="en-US" sz="13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5.4</a:t>
                      </a:r>
                      <a:endParaRPr lang="en-US" sz="13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378</a:t>
                      </a:r>
                      <a:endParaRPr lang="en-US" sz="13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3"/>
                          </a:solidFill>
                        </a:rPr>
                        <a:t>Weaker</a:t>
                      </a:r>
                      <a:endParaRPr lang="en-US" sz="13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Gemma 3 12B</a:t>
                      </a:r>
                      <a:endParaRPr lang="en-US" sz="13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33</a:t>
                      </a:r>
                      <a:endParaRPr lang="en-US" sz="13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215 s</a:t>
                      </a:r>
                      <a:endParaRPr lang="en-US" sz="13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244 s</a:t>
                      </a:r>
                      <a:endParaRPr lang="en-US" sz="13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9.8 GB</a:t>
                      </a:r>
                      <a:endParaRPr lang="en-US" sz="13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8.2 GB</a:t>
                      </a:r>
                      <a:endParaRPr lang="en-US" sz="13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43</a:t>
                      </a:r>
                      <a:endParaRPr lang="en-US" sz="13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4.2</a:t>
                      </a:r>
                      <a:endParaRPr lang="en-US" sz="13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594</a:t>
                      </a:r>
                      <a:endParaRPr lang="en-US" sz="13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3"/>
                          </a:solidFill>
                        </a:rPr>
                        <a:t>Too slow</a:t>
                      </a:r>
                      <a:endParaRPr lang="en-US" sz="13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Phi-4 14B</a:t>
                      </a:r>
                      <a:endParaRPr lang="en-US" sz="13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33</a:t>
                      </a:r>
                      <a:endParaRPr lang="en-US" sz="13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224 s</a:t>
                      </a:r>
                      <a:endParaRPr lang="en-US" sz="13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256 s</a:t>
                      </a:r>
                      <a:endParaRPr lang="en-US" sz="13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10.5 GB</a:t>
                      </a:r>
                      <a:endParaRPr lang="en-US" sz="13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9.1 GB</a:t>
                      </a:r>
                      <a:endParaRPr lang="en-US" sz="13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36</a:t>
                      </a:r>
                      <a:endParaRPr lang="en-US" sz="13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3.3</a:t>
                      </a:r>
                      <a:endParaRPr lang="en-US" sz="13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442</a:t>
                      </a:r>
                      <a:endParaRPr lang="en-US" sz="13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3"/>
                          </a:solidFill>
                        </a:rPr>
                        <a:t>Too slow</a:t>
                      </a:r>
                      <a:endParaRPr lang="en-US" sz="13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Appendix A2 · Why the remaining fact loss persists</a:t>
            </a:r>
            <a:endParaRPr lang="en-US" sz="30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560320"/>
                <a:gridCol w="3657600"/>
                <a:gridCol w="26517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Factor tested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Experiment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Result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Conclusion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Model size / family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6 models, 4–14B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All within ± 2 facts except Llama (−5)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Not model-limited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Quantization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Q4_K_M vs Q8_0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32 vs 28 facts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Q4 is not the cause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Prompt structure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One finding per bullet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Citations 72% → 100%; facts 32 → 29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Changes citations, not facts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Context size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8 vs 4 passages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Retention 80% → 68%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Fewer passages hurt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Evidence order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Ranked vs reversed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32 vs 30 facts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No effect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Answer length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Short vs long answers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78% vs 81%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No effect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Scoring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Manual adjudication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 of 14 questions mis-scored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Part of the 'loss' was scoring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Appendix A3 · Company laptops by RAM</a:t>
            </a:r>
            <a:endParaRPr lang="en-US" sz="30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554480"/>
                <a:gridCol w="1920240"/>
                <a:gridCol w="2286000"/>
                <a:gridCol w="2011680"/>
                <a:gridCol w="19202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Laptop RAM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Free for AI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Qwen 3 4B (≈ 6 GB)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Qwen 2.5 7B (≈ 7–10 GB)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12–14B (≈ 12–13 GB)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Verdict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8 GB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≈ 1–2 GB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3"/>
                          </a:solidFill>
                        </a:rPr>
                        <a:t>No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3"/>
                          </a:solidFill>
                        </a:rPr>
                        <a:t>No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3"/>
                          </a:solidFill>
                        </a:rPr>
                        <a:t>No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3"/>
                          </a:solidFill>
                        </a:rPr>
                        <a:t>Not supported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16 GB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≈ 8–10 GB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6"/>
                          </a:solidFill>
                        </a:rPr>
                        <a:t>Yes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</a:rPr>
                        <a:t>Close other apps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3"/>
                          </a:solidFill>
                        </a:rPr>
                        <a:t>No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</a:rPr>
                        <a:t>Single user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32 GB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≈ 24 GB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6"/>
                          </a:solidFill>
                        </a:rPr>
                        <a:t>Yes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6"/>
                          </a:solidFill>
                        </a:rPr>
                        <a:t>Yes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</a:rPr>
                        <a:t>Fits, ≈ 4 min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6"/>
                          </a:solidFill>
                        </a:rPr>
                        <a:t>Recommended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64 GB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≈ 56 GB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6"/>
                          </a:solidFill>
                        </a:rPr>
                        <a:t>Yes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6"/>
                          </a:solidFill>
                        </a:rPr>
                        <a:t>Yes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</a:rPr>
                        <a:t>Fits, slow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6"/>
                          </a:solidFill>
                        </a:rPr>
                        <a:t>Works; GPU better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840480"/>
          <a:ext cx="1106424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3931920"/>
                <a:gridCol w="3931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Laptop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Answer time (Qwen 2.5 7B)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Documents (RAM-bound)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x86, 16 GB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1.5–3 min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15,000–30,000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x86, 32 GB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1.5–2 min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≈ 150,000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Apple Silicon 16–32 GB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20–60 s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15,000–150,000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Appendix A4 · Storage capacity and per-MB cost</a:t>
            </a:r>
            <a:endParaRPr lang="en-US" sz="30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53949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920240"/>
                <a:gridCol w="10972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Input</a:t>
                      </a:r>
                      <a:endParaRPr lang="en-US" sz="13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Disk</a:t>
                      </a:r>
                      <a:endParaRPr lang="en-US" sz="13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RAM</a:t>
                      </a:r>
                      <a:endParaRPr lang="en-US" sz="13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 MB of plain document text</a:t>
                      </a:r>
                      <a:endParaRPr lang="en-US" sz="13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≈ 10.5 MB</a:t>
                      </a:r>
                      <a:endParaRPr lang="en-US" sz="13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≈ 1.5 MB</a:t>
                      </a:r>
                      <a:endParaRPr lang="en-US" sz="13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 paper (~20 pages)</a:t>
                      </a:r>
                      <a:endParaRPr lang="en-US" sz="13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0.53 MB</a:t>
                      </a:r>
                      <a:endParaRPr lang="en-US" sz="13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≈ 64 KB</a:t>
                      </a:r>
                      <a:endParaRPr lang="en-US" sz="13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1,000 papers</a:t>
                      </a:r>
                      <a:endParaRPr lang="en-US" sz="13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0.53 GB (0.95 GB with backup)</a:t>
                      </a:r>
                      <a:endParaRPr lang="en-US" sz="13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64 MB</a:t>
                      </a:r>
                      <a:endParaRPr lang="en-US" sz="13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1234440"/>
          <a:ext cx="539496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011680"/>
                <a:gridCol w="1828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Free disk</a:t>
                      </a:r>
                      <a:endParaRPr lang="en-US" sz="13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Documents (no backup)</a:t>
                      </a:r>
                      <a:endParaRPr lang="en-US" sz="13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With backup</a:t>
                      </a:r>
                      <a:endParaRPr lang="en-US" sz="13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20 GB</a:t>
                      </a:r>
                      <a:endParaRPr lang="en-US" sz="13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≈ 13,000</a:t>
                      </a:r>
                      <a:endParaRPr lang="en-US" sz="13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≈ 7,500</a:t>
                      </a:r>
                      <a:endParaRPr lang="en-US" sz="13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50 GB</a:t>
                      </a:r>
                      <a:endParaRPr lang="en-US" sz="13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≈ 58,000</a:t>
                      </a:r>
                      <a:endParaRPr lang="en-US" sz="13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≈ 33,000</a:t>
                      </a:r>
                      <a:endParaRPr lang="en-US" sz="13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100 GB</a:t>
                      </a:r>
                      <a:endParaRPr lang="en-US" sz="13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≈ 134,000</a:t>
                      </a:r>
                      <a:endParaRPr lang="en-US" sz="13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≈ 75,000</a:t>
                      </a:r>
                      <a:endParaRPr lang="en-US" sz="13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250 GB</a:t>
                      </a:r>
                      <a:endParaRPr lang="en-US" sz="13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≈ 360,000*</a:t>
                      </a:r>
                      <a:endParaRPr lang="en-US" sz="13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≈ 200,000*</a:t>
                      </a:r>
                      <a:endParaRPr lang="en-US" sz="13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65760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011680"/>
                <a:gridCol w="2194560"/>
                <a:gridCol w="2194560"/>
                <a:gridCol w="22860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Corpus</a:t>
                      </a:r>
                      <a:endParaRPr lang="en-US" sz="13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Disk</a:t>
                      </a:r>
                      <a:endParaRPr lang="en-US" sz="13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With backup</a:t>
                      </a:r>
                      <a:endParaRPr lang="en-US" sz="13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Index RAM</a:t>
                      </a:r>
                      <a:endParaRPr lang="en-US" sz="13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Indexing</a:t>
                      </a:r>
                      <a:endParaRPr lang="en-US" sz="13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10,000 papers</a:t>
                      </a:r>
                      <a:endParaRPr lang="en-US" sz="13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5.3 GB</a:t>
                      </a:r>
                      <a:endParaRPr lang="en-US" sz="13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9.5 GB</a:t>
                      </a:r>
                      <a:endParaRPr lang="en-US" sz="13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0.64 GB</a:t>
                      </a:r>
                      <a:endParaRPr lang="en-US" sz="13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≈ 7.5 h</a:t>
                      </a:r>
                      <a:endParaRPr lang="en-US" sz="13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50,000 papers</a:t>
                      </a:r>
                      <a:endParaRPr lang="en-US" sz="13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27 GB</a:t>
                      </a:r>
                      <a:endParaRPr lang="en-US" sz="13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48 GB</a:t>
                      </a:r>
                      <a:endParaRPr lang="en-US" sz="13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3.2 GB</a:t>
                      </a:r>
                      <a:endParaRPr lang="en-US" sz="13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≈ 37 h</a:t>
                      </a:r>
                      <a:endParaRPr lang="en-US" sz="13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100,000 papers</a:t>
                      </a:r>
                      <a:endParaRPr lang="en-US" sz="13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53 GB</a:t>
                      </a:r>
                      <a:endParaRPr lang="en-US" sz="13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95 GB</a:t>
                      </a:r>
                      <a:endParaRPr lang="en-US" sz="13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6.4 GB</a:t>
                      </a:r>
                      <a:endParaRPr lang="en-US" sz="13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≈ 3 days</a:t>
                      </a:r>
                      <a:endParaRPr lang="en-US" sz="13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7" name="Text 1"/>
          <p:cNvSpPr txBox="1"/>
          <p:nvPr/>
        </p:nvSpPr>
        <p:spPr>
          <a:xfrm>
            <a:off x="6217920" y="3017520"/>
            <a:ext cx="5394960" cy="457200"/>
          </a:xfrm>
          <a:prstGeom prst="rect">
            <a:avLst/>
          </a:prstGeom>
          <a:noFill/>
          <a:ln/>
        </p:spPr>
        <p:txBody>
          <a:bodyPr wrap="square" lIns="635" tIns="1270" rIns="1270" bIns="635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* needs ≈ 23 GB RAM for the index — more than a 16 or 32 GB laptop can spare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Appendix A5 · Risk register</a:t>
            </a:r>
            <a:endParaRPr lang="en-US" sz="30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1097280"/>
                <a:gridCol w="1920240"/>
                <a:gridCol w="3108960"/>
                <a:gridCol w="19202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Risk</a:t>
                      </a:r>
                      <a:endParaRPr lang="en-US" sz="13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Severity</a:t>
                      </a:r>
                      <a:endParaRPr lang="en-US" sz="13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Probability</a:t>
                      </a:r>
                      <a:endParaRPr lang="en-US" sz="13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Mitigation</a:t>
                      </a:r>
                      <a:endParaRPr lang="en-US" sz="13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Status</a:t>
                      </a:r>
                      <a:endParaRPr lang="en-US" sz="13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Prompt-cache memory growth</a:t>
                      </a:r>
                      <a:endParaRPr lang="en-US" sz="13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High</a:t>
                      </a:r>
                      <a:endParaRPr lang="en-US" sz="13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High (before fix)</a:t>
                      </a:r>
                      <a:endParaRPr lang="en-US" sz="13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Reload policy + start-up reset</a:t>
                      </a:r>
                      <a:endParaRPr lang="en-US" sz="13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6"/>
                          </a:solidFill>
                        </a:rPr>
                        <a:t>Mitigated, measured</a:t>
                      </a:r>
                      <a:endParaRPr lang="en-US" sz="13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Ollama outbound to ollama.com</a:t>
                      </a:r>
                      <a:endParaRPr lang="en-US" sz="13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High</a:t>
                      </a:r>
                      <a:endParaRPr lang="en-US" sz="13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Certain</a:t>
                      </a:r>
                      <a:endParaRPr lang="en-US" sz="13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OLLAMA_NO_CLOUD=1 + firewall</a:t>
                      </a:r>
                      <a:endParaRPr lang="en-US" sz="13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2"/>
                          </a:solidFill>
                        </a:rPr>
                        <a:t>Admin step</a:t>
                      </a:r>
                      <a:endParaRPr lang="en-US" sz="13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No authentication / access control</a:t>
                      </a:r>
                      <a:endParaRPr lang="en-US" sz="13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High</a:t>
                      </a:r>
                      <a:endParaRPr lang="en-US" sz="13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Certain if multi-user</a:t>
                      </a:r>
                      <a:endParaRPr lang="en-US" sz="13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Reverse proxy + SSO; access rules</a:t>
                      </a:r>
                      <a:endParaRPr lang="en-US" sz="13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3"/>
                          </a:solidFill>
                        </a:rPr>
                        <a:t>Open</a:t>
                      </a:r>
                      <a:endParaRPr lang="en-US" sz="13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Plain-text question / answer logs</a:t>
                      </a:r>
                      <a:endParaRPr lang="en-US" sz="13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Medium</a:t>
                      </a:r>
                      <a:endParaRPr lang="en-US" sz="13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Certain</a:t>
                      </a:r>
                      <a:endParaRPr lang="en-US" sz="13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Retention policy; disk encryption</a:t>
                      </a:r>
                      <a:endParaRPr lang="en-US" sz="13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3"/>
                          </a:solidFill>
                        </a:rPr>
                        <a:t>Open</a:t>
                      </a:r>
                      <a:endParaRPr lang="en-US" sz="13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One request at a time</a:t>
                      </a:r>
                      <a:endParaRPr lang="en-US" sz="13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Medium</a:t>
                      </a:r>
                      <a:endParaRPr lang="en-US" sz="13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High with 2+ users</a:t>
                      </a:r>
                      <a:endParaRPr lang="en-US" sz="13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GPU server / parallel requests</a:t>
                      </a:r>
                      <a:endParaRPr lang="en-US" sz="13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3"/>
                          </a:solidFill>
                        </a:rPr>
                        <a:t>Open</a:t>
                      </a:r>
                      <a:endParaRPr lang="en-US" sz="13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Auto-start disabled</a:t>
                      </a:r>
                      <a:endParaRPr lang="en-US" sz="13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Medium</a:t>
                      </a:r>
                      <a:endParaRPr lang="en-US" sz="13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High after reboot</a:t>
                      </a:r>
                      <a:endParaRPr lang="en-US" sz="13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systemctl enable pharma-rag</a:t>
                      </a:r>
                      <a:endParaRPr lang="en-US" sz="13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2"/>
                          </a:solidFill>
                        </a:rPr>
                        <a:t>Admin step</a:t>
                      </a:r>
                      <a:endParaRPr lang="en-US" sz="13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Retrieval at larger corpus</a:t>
                      </a:r>
                      <a:endParaRPr lang="en-US" sz="13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Medium</a:t>
                      </a:r>
                      <a:endParaRPr lang="en-US" sz="13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Medium at 10k+ docs</a:t>
                      </a:r>
                      <a:endParaRPr lang="en-US" sz="13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Re-test at target size</a:t>
                      </a:r>
                      <a:endParaRPr lang="en-US" sz="13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3"/>
                          </a:solidFill>
                        </a:rPr>
                        <a:t>Open</a:t>
                      </a:r>
                      <a:endParaRPr lang="en-US" sz="13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Small, single-labeler benchmark</a:t>
                      </a:r>
                      <a:endParaRPr lang="en-US" sz="13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Medium</a:t>
                      </a:r>
                      <a:endParaRPr lang="en-US" sz="13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More questions; second reviewer</a:t>
                      </a:r>
                      <a:endParaRPr lang="en-US" sz="13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3"/>
                          </a:solidFill>
                        </a:rPr>
                        <a:t>Open</a:t>
                      </a:r>
                      <a:endParaRPr lang="en-US" sz="1300" dirty="0"/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ngineering Review">
  <a:themeElements>
    <a:clrScheme name="Engineering Review">
      <a:dk1>
        <a:srgbClr val="1F2933"/>
      </a:dk1>
      <a:lt1>
        <a:srgbClr val="FFFFFF"/>
      </a:lt1>
      <a:dk2>
        <a:srgbClr val="22313A"/>
      </a:dk2>
      <a:lt2>
        <a:srgbClr val="EEF2F3"/>
      </a:lt2>
      <a:accent1>
        <a:srgbClr val="0F766E"/>
      </a:accent1>
      <a:accent2>
        <a:srgbClr val="B45309"/>
      </a:accent2>
      <a:accent3>
        <a:srgbClr val="B91C1C"/>
      </a:accent3>
      <a:accent4>
        <a:srgbClr val="475569"/>
      </a:accent4>
      <a:accent5>
        <a:srgbClr val="94A3B8"/>
      </a:accent5>
      <a:accent6>
        <a:srgbClr val="15803D"/>
      </a:accent6>
      <a:hlink>
        <a:srgbClr val="0F766E"/>
      </a:hlink>
      <a:folHlink>
        <a:srgbClr val="475569"/>
      </a:folHlink>
    </a:clrScheme>
    <a:fontScheme name="Engineering Review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Pharma Research Intelligence Assistant — Project Review</dc:title>
  <dc:subject>System design, evaluation, capacity and operational risk review</dc:subject>
  <dc:creator>Project owner</dc:creator>
  <cp:lastModifiedBy>Project owner</cp:lastModifiedBy>
  <cp:revision>1</cp:revision>
  <dcterms:created xsi:type="dcterms:W3CDTF">2026-10-19T12:58:49Z</dcterms:created>
  <dcterms:modified xsi:type="dcterms:W3CDTF">2026-10-19T12:58:49Z</dcterms:modified>
</cp:coreProperties>
</file>